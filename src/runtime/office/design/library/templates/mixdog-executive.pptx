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Relationship Id="rId25" Type="http://schemas.openxmlformats.org/officeDocument/2006/relationships/slide" Target="slides/slide19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Cycle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Value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Baseline</c:v>
                </c:pt>
                <c:pt idx="1">
                  <c:v>Current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25.57</c:v>
                </c:pt>
                <c:pt idx="1">
                  <c:v>19.04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CategoryTitle>
                <c15:cat>
                  <mc:AlternateContent xmlns:mc="http://schemas.openxmlformats.org/markup-compatibility/2006">
                    <mc:Choice xmlns:c16ac="http://schemas.microsoft.com/office/drawing/2014/chart/ac" Requires="c16ac">
                      <c16ac:multiLvlStrLit>
                        <c:ptCount val="0"/>
                      </c16ac:multiLvlStrLit>
                    </mc:Choice>
                    <mc:Fallback>
                      <c:strLit/>
                    </mc:Fallback>
                  </mc:AlternateContent>
                </c15:cat>
              </c15:filteredCategoryTitle>
            </c:ext>
            <c:ext xmlns:c16="http://schemas.microsoft.com/office/drawing/2014/chart" uri="{C3380CC4-5D6E-409C-BE32-E72D297353CC}">
              <c16:uniqueId val="{00000003-AAC8-468F-8DE7-E89C0DAC6E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2106584400"/>
        <c:axId val="2147054448"/>
      </c:barChart>
      <c:catAx>
        <c:axId val="210658440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47054448"/>
        <c:crosses val="autoZero"/>
        <c:auto val="1"/>
        <c:lblAlgn val="ctr"/>
        <c:lblOffset val="100"/>
        <c:noMultiLvlLbl val="0"/>
      </c:catAx>
      <c:valAx>
        <c:axId val="21470544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106584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/>
              <a:t>Workstream time · seconds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7.2</c:v>
                </c:pt>
                <c:pt idx="1">
                  <c:v>10.4</c:v>
                </c:pt>
                <c:pt idx="2">
                  <c:v>5.1</c:v>
                </c:pt>
                <c:pt idx="3">
                  <c:v>2.87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3-6288-4922-B3B1-26BACE84ED1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Current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Frame</c:v>
                </c:pt>
                <c:pt idx="1">
                  <c:v>Compose</c:v>
                </c:pt>
                <c:pt idx="2">
                  <c:v>Review</c:v>
                </c:pt>
                <c:pt idx="3">
                  <c:v>Deliver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5.4</c:v>
                </c:pt>
                <c:pt idx="1">
                  <c:v>7.8</c:v>
                </c:pt>
                <c:pt idx="2">
                  <c:v>3.9</c:v>
                </c:pt>
                <c:pt idx="3">
                  <c:v>1.94</c:v>
                </c:pt>
              </c:numCache>
            </c:numRef>
          </c:val>
          <c:smooth val="0"/>
          <c:extLst>
            <c:ext xmlns:c15="http://schemas.microsoft.com/office/drawing/2012/chart" uri="{02D57815-91ED-43cb-92C2-25804820EDAC}">
              <c15:filteredCategoryTitle>
                <c15:cat>
                  <c:multiLvlStrRef>
                    <c:extLst>
                      <c:ext uri="{02D57815-91ED-43cb-92C2-25804820EDAC}">
                        <c15:formulaRef>
                          <c15:sqref/>
                        </c15:formulaRef>
                      </c:ext>
                    </c:extLst>
                  </c:multiLvlStrRef>
                </c15:cat>
              </c15:filteredCategoryTitle>
            </c:ext>
            <c:ext xmlns:c16="http://schemas.microsoft.com/office/drawing/2014/chart" uri="{C3380CC4-5D6E-409C-BE32-E72D297353CC}">
              <c16:uniqueId val="{00000004-6288-4922-B3B1-26BACE84ED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351696"/>
        <c:axId val="879952463"/>
      </c:lineChart>
      <c:catAx>
        <c:axId val="43516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79952463"/>
        <c:crosses val="autoZero"/>
        <c:auto val="1"/>
        <c:lblAlgn val="ctr"/>
        <c:lblOffset val="100"/>
        <c:noMultiLvlLbl val="0"/>
      </c:catAx>
      <c:valAx>
        <c:axId val="87995246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43516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82251E-1F81-4336-8E01-AC3D30384EFA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BF51DC-1C0B-453A-B44C-AC78C510F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58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cover-minimal. Use one decisive headline, one short subtitle, and a compact visual thesis.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19171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agenda-stair. Use only when the three items form a real 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925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executive-summary. One dominant result and two supporting signals; do not turn it into a card grid.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5006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statement-metric. Use one metric as evidence for one sentence, never as decoration.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20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comparison-asymmetric. Give the recommended side more visual weight.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86795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delta-chart. Replace the native chart data; headline states the implication rather than the topic.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91139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metrics-rhythm. Values descend in visual weight to show priority.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8958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process-linear. Use for a true ordered pipeline; the arrow encodes direction.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5602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architecture-three-zone. Center is the system boundary; sides are inputs and outputs.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991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evidence-matrix. Use a native table when the audience must audit multiple gates.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549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image-split. Replace the picture with a product or evidence image; never leave a generic illustration.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9061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timeline-rise. Use when stages build maturity or value over time.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730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decision. Left is the rejected option; right is the recommendation and consequence.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86765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quote-proof. Use only for a real customer or source statement.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16553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evidence-detail. Keep detailed support on the left and one synthesis block on the right.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99282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trend-chart. Use a native line chart and one highlighted implication.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3975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next-steps. Three actions rise in commitment and ownership.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03984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Mixdog layout: closing. End with one consequence or next action, not a generic thank-you.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BF51DC-1C0B-453A-B44C-AC78C510F37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327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5540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90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0967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81419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구역 머리글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69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986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193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550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3795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2489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8466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9254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6309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250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327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0504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9795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5284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333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360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4933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62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8921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0716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04597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1952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09243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33A7143C-9EA1-4AEE-A280-8D0E845EAB37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87668487-263E-4D52-8E72-BF66E7E793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87633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1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742AD10-1BD6-9EDE-9794-AA46E94F3CE8}"/>
              </a:ext>
            </a:extLst>
          </p:cNvPr>
          <p:cNvSpPr txBox="1"/>
          <p:nvPr/>
        </p:nvSpPr>
        <p:spPr>
          <a:xfrm>
            <a:off x="736600" y="685800"/>
            <a:ext cx="5842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DC5F46"/>
                </a:solidFill>
                <a:latin typeface="Arial" panose="020B0604020202020204" pitchFamily="34" charset="0"/>
              </a:rPr>
              <a:t>EXECUTIVE STORY SYSTEM</a:t>
            </a:r>
            <a:endParaRPr lang="ko-KR" altLang="en-US" sz="11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BFA381-8D97-A797-3073-6432218FA2D9}"/>
              </a:ext>
            </a:extLst>
          </p:cNvPr>
          <p:cNvSpPr txBox="1"/>
          <p:nvPr/>
        </p:nvSpPr>
        <p:spPr>
          <a:xfrm>
            <a:off x="736600" y="1600200"/>
            <a:ext cx="7747000" cy="226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600" b="1">
                <a:solidFill>
                  <a:srgbClr val="F7F8FA"/>
                </a:solidFill>
                <a:latin typeface="Georgia" panose="02040502050405020303" pitchFamily="18" charset="0"/>
              </a:rPr>
              <a:t>From blank canvas to boardroom-ready</a:t>
            </a:r>
            <a:endParaRPr lang="ko-KR" altLang="en-US" sz="4600" b="1">
              <a:solidFill>
                <a:srgbClr val="F7F8FA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D18DB-390E-F54C-DB85-A6DB18EC24BF}"/>
              </a:ext>
            </a:extLst>
          </p:cNvPr>
          <p:cNvSpPr txBox="1"/>
          <p:nvPr/>
        </p:nvSpPr>
        <p:spPr>
          <a:xfrm>
            <a:off x="787400" y="4419600"/>
            <a:ext cx="74295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700">
                <a:solidFill>
                  <a:srgbClr val="C7CBD1"/>
                </a:solidFill>
                <a:latin typeface="Arial" panose="020B0604020202020204" pitchFamily="34" charset="0"/>
              </a:rPr>
              <a:t>A native PowerPoint library for decisions that need clarity, evidence, and pace.</a:t>
            </a:r>
            <a:endParaRPr lang="ko-KR" altLang="en-US" sz="17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3645E88-A981-81C9-47F5-B33099076031}"/>
              </a:ext>
            </a:extLst>
          </p:cNvPr>
          <p:cNvSpPr/>
          <p:nvPr/>
        </p:nvSpPr>
        <p:spPr>
          <a:xfrm>
            <a:off x="9499600" y="838200"/>
            <a:ext cx="1955800" cy="46990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C6728-0533-08A2-E529-DD773C60F612}"/>
              </a:ext>
            </a:extLst>
          </p:cNvPr>
          <p:cNvSpPr txBox="1"/>
          <p:nvPr/>
        </p:nvSpPr>
        <p:spPr>
          <a:xfrm>
            <a:off x="9779000" y="1320800"/>
            <a:ext cx="1397000" cy="317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</a:rPr>
              <a:t>18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50946-0F6D-0A7C-9AAE-D43490769BA0}"/>
              </a:ext>
            </a:extLst>
          </p:cNvPr>
          <p:cNvSpPr txBox="1"/>
          <p:nvPr/>
        </p:nvSpPr>
        <p:spPr>
          <a:xfrm>
            <a:off x="787400" y="6096000"/>
            <a:ext cx="7747000" cy="304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Native archetypes · Editable assets · Render-reviewed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696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97C6D5-C9EE-5209-A0DA-BDA869E100C1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OPERATING MODEL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5DF42-9CDE-3724-5C4B-A2FD4AB5A266}"/>
              </a:ext>
            </a:extLst>
          </p:cNvPr>
          <p:cNvSpPr txBox="1"/>
          <p:nvPr/>
        </p:nvSpPr>
        <p:spPr>
          <a:xfrm>
            <a:off x="736600" y="1041400"/>
            <a:ext cx="9906000" cy="838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One brief. Three disciplined passes.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79554F-F878-544D-45D4-78A75EBA8D0E}"/>
              </a:ext>
            </a:extLst>
          </p:cNvPr>
          <p:cNvSpPr txBox="1"/>
          <p:nvPr/>
        </p:nvSpPr>
        <p:spPr>
          <a:xfrm>
            <a:off x="736600" y="2565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C7422F"/>
                </a:solidFill>
                <a:latin typeface="Georgia" panose="02040502050405020303" pitchFamily="18" charset="0"/>
              </a:rPr>
              <a:t>01</a:t>
            </a:r>
            <a:endParaRPr lang="ko-KR" altLang="en-US" sz="30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9C9DB-D47F-C0BA-273F-BEEE4D60E2BF}"/>
              </a:ext>
            </a:extLst>
          </p:cNvPr>
          <p:cNvSpPr txBox="1"/>
          <p:nvPr/>
        </p:nvSpPr>
        <p:spPr>
          <a:xfrm>
            <a:off x="1879600" y="2590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Frame the decision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CB5712-A217-E0CC-2895-6C6499C112EB}"/>
              </a:ext>
            </a:extLst>
          </p:cNvPr>
          <p:cNvSpPr txBox="1"/>
          <p:nvPr/>
        </p:nvSpPr>
        <p:spPr>
          <a:xfrm>
            <a:off x="4826000" y="34544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254E70"/>
                </a:solidFill>
                <a:latin typeface="Georgia" panose="02040502050405020303" pitchFamily="18" charset="0"/>
              </a:rPr>
              <a:t>02</a:t>
            </a:r>
            <a:endParaRPr lang="ko-KR" altLang="en-US" sz="30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39DC77-8B1C-B3F7-A597-7FCCAD747B1B}"/>
              </a:ext>
            </a:extLst>
          </p:cNvPr>
          <p:cNvSpPr txBox="1"/>
          <p:nvPr/>
        </p:nvSpPr>
        <p:spPr>
          <a:xfrm>
            <a:off x="5969000" y="3479800"/>
            <a:ext cx="2794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Select the evidence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F78371-F0DC-54F0-BC2E-DD212F82AD6B}"/>
              </a:ext>
            </a:extLst>
          </p:cNvPr>
          <p:cNvSpPr txBox="1"/>
          <p:nvPr/>
        </p:nvSpPr>
        <p:spPr>
          <a:xfrm>
            <a:off x="8255000" y="4445000"/>
            <a:ext cx="914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000" b="1">
                <a:solidFill>
                  <a:srgbClr val="6B7D6A"/>
                </a:solidFill>
                <a:latin typeface="Georgia" panose="02040502050405020303" pitchFamily="18" charset="0"/>
              </a:rPr>
              <a:t>03</a:t>
            </a:r>
            <a:endParaRPr lang="ko-KR" altLang="en-US" sz="30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13EE90-868A-3FA0-4D95-BC125C34EE51}"/>
              </a:ext>
            </a:extLst>
          </p:cNvPr>
          <p:cNvSpPr txBox="1"/>
          <p:nvPr/>
        </p:nvSpPr>
        <p:spPr>
          <a:xfrm>
            <a:off x="9398000" y="447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b="1">
                <a:solidFill>
                  <a:srgbClr val="171A1F"/>
                </a:solidFill>
                <a:latin typeface="Arial" panose="020B0604020202020204" pitchFamily="34" charset="0"/>
              </a:rPr>
              <a:t>Polish the signal</a:t>
            </a:r>
            <a:endParaRPr lang="ko-KR" altLang="en-US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7BD31E-7448-5C92-AE2E-4505AAF41D46}"/>
              </a:ext>
            </a:extLst>
          </p:cNvPr>
          <p:cNvSpPr txBox="1"/>
          <p:nvPr/>
        </p:nvSpPr>
        <p:spPr>
          <a:xfrm>
            <a:off x="736600" y="5740400"/>
            <a:ext cx="7874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Content leads. The layout adapts, then every slide earns its place.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607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6D2810-67AB-3D85-28BC-A414B5F902DA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PERFORMANCE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022C27-CB05-677C-2A5A-3944D4335FEB}"/>
              </a:ext>
            </a:extLst>
          </p:cNvPr>
          <p:cNvSpPr txBox="1"/>
          <p:nvPr/>
        </p:nvSpPr>
        <p:spPr>
          <a:xfrm>
            <a:off x="736600" y="1041400"/>
            <a:ext cx="10033000" cy="990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Less orchestration. More finished 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6A6101A-E9C8-1B89-2270-32723FCB3A81}"/>
              </a:ext>
            </a:extLst>
          </p:cNvPr>
          <p:cNvSpPr/>
          <p:nvPr/>
        </p:nvSpPr>
        <p:spPr>
          <a:xfrm>
            <a:off x="736600" y="2565400"/>
            <a:ext cx="4038600" cy="30226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C97747-E0CB-1618-E6CC-ABD00535814F}"/>
              </a:ext>
            </a:extLst>
          </p:cNvPr>
          <p:cNvSpPr txBox="1"/>
          <p:nvPr/>
        </p:nvSpPr>
        <p:spPr>
          <a:xfrm>
            <a:off x="1041400" y="3022600"/>
            <a:ext cx="3302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600" b="1">
                <a:solidFill>
                  <a:srgbClr val="FFFFFF"/>
                </a:solidFill>
                <a:latin typeface="Georgia" panose="02040502050405020303" pitchFamily="18" charset="0"/>
              </a:rPr>
              <a:t>1 call</a:t>
            </a:r>
            <a:endParaRPr lang="ko-KR" altLang="en-US" sz="5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49C8E-4256-58AD-1A79-B25D8F5B13CE}"/>
              </a:ext>
            </a:extLst>
          </p:cNvPr>
          <p:cNvSpPr txBox="1"/>
          <p:nvPr/>
        </p:nvSpPr>
        <p:spPr>
          <a:xfrm>
            <a:off x="1092200" y="4318000"/>
            <a:ext cx="3048000" cy="508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D8583F"/>
                </a:solidFill>
                <a:latin typeface="Arial" panose="020B0604020202020204" pitchFamily="34" charset="0"/>
              </a:rPr>
              <a:t>END-TO-END</a:t>
            </a:r>
            <a:endParaRPr lang="ko-KR" altLang="en-US" sz="1400" b="1">
              <a:solidFill>
                <a:srgbClr val="D8583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BA89DB-A21B-D362-C5EE-DC065865A749}"/>
              </a:ext>
            </a:extLst>
          </p:cNvPr>
          <p:cNvSpPr txBox="1"/>
          <p:nvPr/>
        </p:nvSpPr>
        <p:spPr>
          <a:xfrm>
            <a:off x="1092200" y="4927600"/>
            <a:ext cx="31115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>
                <a:solidFill>
                  <a:srgbClr val="C7CBD1"/>
                </a:solidFill>
                <a:latin typeface="Arial" panose="020B0604020202020204" pitchFamily="34" charset="0"/>
              </a:rPr>
              <a:t>Create · edit · review · save</a:t>
            </a:r>
            <a:endParaRPr lang="ko-KR" altLang="en-US" sz="11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012034-A6F8-B9F4-3B7F-B2951A441C84}"/>
              </a:ext>
            </a:extLst>
          </p:cNvPr>
          <p:cNvSpPr txBox="1"/>
          <p:nvPr/>
        </p:nvSpPr>
        <p:spPr>
          <a:xfrm>
            <a:off x="5740400" y="27432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254E70"/>
                </a:solidFill>
                <a:latin typeface="Georgia" panose="02040502050405020303" pitchFamily="18" charset="0"/>
              </a:rPr>
              <a:t>−86%</a:t>
            </a:r>
            <a:endParaRPr lang="ko-KR" altLang="en-US" sz="38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1DD128-BC52-29AA-95CB-0D747BC719F5}"/>
              </a:ext>
            </a:extLst>
          </p:cNvPr>
          <p:cNvSpPr txBox="1"/>
          <p:nvPr/>
        </p:nvSpPr>
        <p:spPr>
          <a:xfrm>
            <a:off x="5740400" y="3632200"/>
            <a:ext cx="3810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TOOL CALLS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AC6EFB-DDAF-0F22-D59D-8BF4F86EC1C2}"/>
              </a:ext>
            </a:extLst>
          </p:cNvPr>
          <p:cNvSpPr txBox="1"/>
          <p:nvPr/>
        </p:nvSpPr>
        <p:spPr>
          <a:xfrm>
            <a:off x="8255000" y="4368800"/>
            <a:ext cx="2159000" cy="812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</a:rPr>
              <a:t>100%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31498-2A85-D3AE-FA51-C164ED01AF4E}"/>
              </a:ext>
            </a:extLst>
          </p:cNvPr>
          <p:cNvSpPr txBox="1"/>
          <p:nvPr/>
        </p:nvSpPr>
        <p:spPr>
          <a:xfrm>
            <a:off x="8255000" y="5257800"/>
            <a:ext cx="3175000" cy="381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ACCURACY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1650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71033D-CA59-B674-445D-A198204B11CE}"/>
              </a:ext>
            </a:extLst>
          </p:cNvPr>
          <p:cNvSpPr txBox="1"/>
          <p:nvPr/>
        </p:nvSpPr>
        <p:spPr>
          <a:xfrm>
            <a:off x="736600" y="609600"/>
            <a:ext cx="5080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C5F46"/>
                </a:solidFill>
                <a:latin typeface="Arial" panose="020B0604020202020204" pitchFamily="34" charset="0"/>
              </a:rPr>
              <a:t>NATIVE BY DEFAULT</a:t>
            </a:r>
            <a:endParaRPr lang="ko-KR" altLang="en-US" sz="10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05A0-4301-475C-F0EE-23B7BB481FDD}"/>
              </a:ext>
            </a:extLst>
          </p:cNvPr>
          <p:cNvSpPr txBox="1"/>
          <p:nvPr/>
        </p:nvSpPr>
        <p:spPr>
          <a:xfrm>
            <a:off x="736600" y="1270000"/>
            <a:ext cx="6604000" cy="180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000" b="1">
                <a:solidFill>
                  <a:srgbClr val="F7F8FA"/>
                </a:solidFill>
                <a:latin typeface="Georgia" panose="02040502050405020303" pitchFamily="18" charset="0"/>
              </a:rPr>
              <a:t>The result stays editable where teams already work.</a:t>
            </a:r>
            <a:endParaRPr lang="ko-KR" altLang="en-US" sz="4000" b="1">
              <a:solidFill>
                <a:srgbClr val="F7F8FA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9AECA1-32CC-87F0-B1D6-8F339F9FF9D7}"/>
              </a:ext>
            </a:extLst>
          </p:cNvPr>
          <p:cNvSpPr txBox="1"/>
          <p:nvPr/>
        </p:nvSpPr>
        <p:spPr>
          <a:xfrm>
            <a:off x="787400" y="3606800"/>
            <a:ext cx="6350000" cy="93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Masters, charts, tables, notes, and media remain first-class PowerPoint objects.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550476-9D5E-7D02-BC6F-512AC9895160}"/>
              </a:ext>
            </a:extLst>
          </p:cNvPr>
          <p:cNvSpPr txBox="1"/>
          <p:nvPr/>
        </p:nvSpPr>
        <p:spPr>
          <a:xfrm>
            <a:off x="8255000" y="1676400"/>
            <a:ext cx="3175000" cy="175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8200" b="1">
                <a:solidFill>
                  <a:srgbClr val="DC5F46"/>
                </a:solidFill>
                <a:latin typeface="Georgia" panose="02040502050405020303" pitchFamily="18" charset="0"/>
              </a:rPr>
              <a:t>18</a:t>
            </a:r>
            <a:endParaRPr lang="ko-KR" altLang="en-US" sz="8200" b="1">
              <a:solidFill>
                <a:srgbClr val="DC5F46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9B91C-C4AE-327E-3139-E91F487B64B8}"/>
              </a:ext>
            </a:extLst>
          </p:cNvPr>
          <p:cNvSpPr txBox="1"/>
          <p:nvPr/>
        </p:nvSpPr>
        <p:spPr>
          <a:xfrm>
            <a:off x="8356600" y="3708400"/>
            <a:ext cx="3048000" cy="533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F7F8FA"/>
                </a:solidFill>
                <a:latin typeface="Arial" panose="020B0604020202020204" pitchFamily="34" charset="0"/>
              </a:rPr>
              <a:t>APPROVED ARCHETYPES</a:t>
            </a:r>
            <a:endParaRPr lang="ko-KR" altLang="en-US" sz="1300" b="1">
              <a:solidFill>
                <a:srgbClr val="F7F8FA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0A334-7BA1-FC99-50F8-CDF2B017A2EF}"/>
              </a:ext>
            </a:extLst>
          </p:cNvPr>
          <p:cNvSpPr txBox="1"/>
          <p:nvPr/>
        </p:nvSpPr>
        <p:spPr>
          <a:xfrm>
            <a:off x="8255000" y="4521200"/>
            <a:ext cx="31496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100">
                <a:solidFill>
                  <a:srgbClr val="8F969E"/>
                </a:solidFill>
                <a:latin typeface="Arial" panose="020B0604020202020204" pitchFamily="34" charset="0"/>
              </a:rPr>
              <a:t>One coherent visual language</a:t>
            </a:r>
            <a:endParaRPr lang="ko-KR" altLang="en-US" sz="11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962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9EA9CB-BF81-B6C8-B16A-AF8722308BB3}"/>
              </a:ext>
            </a:extLst>
          </p:cNvPr>
          <p:cNvSpPr txBox="1"/>
          <p:nvPr/>
        </p:nvSpPr>
        <p:spPr>
          <a:xfrm>
            <a:off x="736600" y="6096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Two paths. One obvious choice.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A57428A-3F3C-A77D-5731-104C0B8D5796}"/>
              </a:ext>
            </a:extLst>
          </p:cNvPr>
          <p:cNvSpPr/>
          <p:nvPr/>
        </p:nvSpPr>
        <p:spPr>
          <a:xfrm>
            <a:off x="736600" y="2006600"/>
            <a:ext cx="4953000" cy="38354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AB327-4157-CBEE-3649-868AA6652429}"/>
              </a:ext>
            </a:extLst>
          </p:cNvPr>
          <p:cNvSpPr txBox="1"/>
          <p:nvPr/>
        </p:nvSpPr>
        <p:spPr>
          <a:xfrm>
            <a:off x="1092200" y="2413000"/>
            <a:ext cx="4064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171A1F"/>
                </a:solidFill>
                <a:latin typeface="Georgia" panose="02040502050405020303" pitchFamily="18" charset="0"/>
              </a:rPr>
              <a:t>Before</a:t>
            </a:r>
            <a:endParaRPr lang="ko-KR" altLang="en-US" sz="2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698B4-5D2E-1719-80E3-253C7469D6D0}"/>
              </a:ext>
            </a:extLst>
          </p:cNvPr>
          <p:cNvSpPr txBox="1"/>
          <p:nvPr/>
        </p:nvSpPr>
        <p:spPr>
          <a:xfrm>
            <a:off x="1092200" y="3352800"/>
            <a:ext cx="40386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525A63"/>
                </a:solidFill>
                <a:latin typeface="Arial" panose="020B0604020202020204" pitchFamily="34" charset="0"/>
              </a:rPr>
              <a:t>Blank canvas · Manual coordinates · Repeated cleanup</a:t>
            </a:r>
            <a:endParaRPr lang="ko-KR" altLang="en-US" sz="14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F17EA80-81D5-2392-8CA0-B0F801737A06}"/>
              </a:ext>
            </a:extLst>
          </p:cNvPr>
          <p:cNvSpPr/>
          <p:nvPr/>
        </p:nvSpPr>
        <p:spPr>
          <a:xfrm>
            <a:off x="6172200" y="1651000"/>
            <a:ext cx="5257800" cy="41910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2E398E-576E-53DB-9057-F188BE87257B}"/>
              </a:ext>
            </a:extLst>
          </p:cNvPr>
          <p:cNvSpPr txBox="1"/>
          <p:nvPr/>
        </p:nvSpPr>
        <p:spPr>
          <a:xfrm>
            <a:off x="6578600" y="2159000"/>
            <a:ext cx="42164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600" b="1">
                <a:solidFill>
                  <a:srgbClr val="FFFFFF"/>
                </a:solidFill>
                <a:latin typeface="Georgia" panose="02040502050405020303" pitchFamily="18" charset="0"/>
              </a:rPr>
              <a:t>Now</a:t>
            </a:r>
            <a:endParaRPr lang="ko-KR" altLang="en-US" sz="26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9AB6E-A8B1-EA63-5DA3-1C491925A4DA}"/>
              </a:ext>
            </a:extLst>
          </p:cNvPr>
          <p:cNvSpPr txBox="1"/>
          <p:nvPr/>
        </p:nvSpPr>
        <p:spPr>
          <a:xfrm>
            <a:off x="6578600" y="3200400"/>
            <a:ext cx="4216400" cy="2032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C7CBD1"/>
                </a:solidFill>
                <a:latin typeface="Arial" panose="020B0604020202020204" pitchFamily="34" charset="0"/>
              </a:rPr>
              <a:t>Native samples · Semantic slots · Render-led polish</a:t>
            </a:r>
            <a:endParaRPr lang="ko-KR" altLang="en-US" sz="14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7569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1D99B8-962C-115B-D27C-27F3DA6AF247}"/>
              </a:ext>
            </a:extLst>
          </p:cNvPr>
          <p:cNvSpPr txBox="1"/>
          <p:nvPr/>
        </p:nvSpPr>
        <p:spPr>
          <a:xfrm>
            <a:off x="736600" y="5842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Decision velocity improves when the system does the busywork.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92ECC7-F43A-E077-9899-12DEA2C417B0}"/>
              </a:ext>
            </a:extLst>
          </p:cNvPr>
          <p:cNvSpPr txBox="1"/>
          <p:nvPr/>
        </p:nvSpPr>
        <p:spPr>
          <a:xfrm>
            <a:off x="736600" y="21590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Illustrative cycle time across a standard executive update.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EAA212-9513-7BB9-68AB-0BEE69FF1111}"/>
              </a:ext>
            </a:extLst>
          </p:cNvPr>
          <p:cNvSpPr txBox="1"/>
          <p:nvPr/>
        </p:nvSpPr>
        <p:spPr>
          <a:xfrm>
            <a:off x="8559800" y="2717800"/>
            <a:ext cx="27940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C7422F"/>
                </a:solidFill>
                <a:latin typeface="Georgia" panose="02040502050405020303" pitchFamily="18" charset="0"/>
              </a:rPr>
              <a:t>TIME TO DECISION</a:t>
            </a:r>
            <a:endParaRPr lang="ko-KR" altLang="en-US" sz="3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21301C-0423-3560-F758-3E466BED875E}"/>
              </a:ext>
            </a:extLst>
          </p:cNvPr>
          <p:cNvSpPr txBox="1"/>
          <p:nvPr/>
        </p:nvSpPr>
        <p:spPr>
          <a:xfrm>
            <a:off x="8559800" y="4521200"/>
            <a:ext cx="27178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525A63"/>
                </a:solidFill>
                <a:latin typeface="Arial" panose="020B0604020202020204" pitchFamily="34" charset="0"/>
              </a:rPr>
              <a:t>25% faster</a:t>
            </a:r>
            <a:endParaRPr lang="ko-KR" altLang="en-US" sz="13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8FEC54F3-EE40-E1CD-EDA3-0A757E8B2F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0722492"/>
              </p:ext>
            </p:extLst>
          </p:nvPr>
        </p:nvGraphicFramePr>
        <p:xfrm>
          <a:off x="736600" y="2311400"/>
          <a:ext cx="7112000" cy="360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82423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D018A5-EBFE-6C49-5AEB-50BD10E5EC4F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QUALITY SIGNAL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318AAA-8847-F6CB-C062-E071BE47BB81}"/>
              </a:ext>
            </a:extLst>
          </p:cNvPr>
          <p:cNvSpPr txBox="1"/>
          <p:nvPr/>
        </p:nvSpPr>
        <p:spPr>
          <a:xfrm>
            <a:off x="736600" y="1041400"/>
            <a:ext cx="10160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A complete story, not a collection of decorated pages.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2360A3-F7A7-6DD7-0D14-FF18B43CD789}"/>
              </a:ext>
            </a:extLst>
          </p:cNvPr>
          <p:cNvSpPr txBox="1"/>
          <p:nvPr/>
        </p:nvSpPr>
        <p:spPr>
          <a:xfrm>
            <a:off x="736600" y="2616200"/>
            <a:ext cx="3429000" cy="1168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5400" b="1">
                <a:solidFill>
                  <a:srgbClr val="C7422F"/>
                </a:solidFill>
                <a:latin typeface="Georgia" panose="02040502050405020303" pitchFamily="18" charset="0"/>
              </a:rPr>
              <a:t>18</a:t>
            </a:r>
            <a:endParaRPr lang="ko-KR" altLang="en-US" sz="5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1D01D4-CBA1-86A8-79E7-859B46E52855}"/>
              </a:ext>
            </a:extLst>
          </p:cNvPr>
          <p:cNvSpPr txBox="1"/>
          <p:nvPr/>
        </p:nvSpPr>
        <p:spPr>
          <a:xfrm>
            <a:off x="787400" y="3937000"/>
            <a:ext cx="3175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LAYOUTS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6A6CEA-1597-C86B-29CD-44BC9A765BCE}"/>
              </a:ext>
            </a:extLst>
          </p:cNvPr>
          <p:cNvSpPr txBox="1"/>
          <p:nvPr/>
        </p:nvSpPr>
        <p:spPr>
          <a:xfrm>
            <a:off x="4724400" y="3124200"/>
            <a:ext cx="2921000" cy="965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254E70"/>
                </a:solidFill>
                <a:latin typeface="Georgia" panose="02040502050405020303" pitchFamily="18" charset="0"/>
              </a:rPr>
              <a:t>5</a:t>
            </a:r>
            <a:endParaRPr lang="ko-KR" altLang="en-US" sz="42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811851-2326-0C51-B10D-6D1F2E94EF8E}"/>
              </a:ext>
            </a:extLst>
          </p:cNvPr>
          <p:cNvSpPr txBox="1"/>
          <p:nvPr/>
        </p:nvSpPr>
        <p:spPr>
          <a:xfrm>
            <a:off x="4775200" y="4216400"/>
            <a:ext cx="2794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REVIEW AXES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C68131-1C54-1177-50DF-3B85437989ED}"/>
              </a:ext>
            </a:extLst>
          </p:cNvPr>
          <p:cNvSpPr txBox="1"/>
          <p:nvPr/>
        </p:nvSpPr>
        <p:spPr>
          <a:xfrm>
            <a:off x="8305800" y="3632200"/>
            <a:ext cx="279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6B7D6A"/>
                </a:solidFill>
                <a:latin typeface="Georgia" panose="02040502050405020303" pitchFamily="18" charset="0"/>
              </a:rPr>
              <a:t>0</a:t>
            </a:r>
            <a:endParaRPr lang="ko-KR" altLang="en-US" sz="38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24153E-B742-1E3B-D4BD-C4ECBEBB32DD}"/>
              </a:ext>
            </a:extLst>
          </p:cNvPr>
          <p:cNvSpPr txBox="1"/>
          <p:nvPr/>
        </p:nvSpPr>
        <p:spPr>
          <a:xfrm>
            <a:off x="8356600" y="4648200"/>
            <a:ext cx="2667000" cy="406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SILENT FALLBACKS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083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5C40B5-B4BD-4889-A59E-5B8C460A8591}"/>
              </a:ext>
            </a:extLst>
          </p:cNvPr>
          <p:cNvSpPr txBox="1"/>
          <p:nvPr/>
        </p:nvSpPr>
        <p:spPr>
          <a:xfrm>
            <a:off x="736600" y="609600"/>
            <a:ext cx="10414000" cy="863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A roadmap that compounds instead of resets.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90F2760B-A6AF-8707-32E8-7B289349EC60}"/>
              </a:ext>
            </a:extLst>
          </p:cNvPr>
          <p:cNvSpPr/>
          <p:nvPr/>
        </p:nvSpPr>
        <p:spPr>
          <a:xfrm>
            <a:off x="1143000" y="2717800"/>
            <a:ext cx="9525000" cy="939800"/>
          </a:xfrm>
          <a:prstGeom prst="rightArrow">
            <a:avLst/>
          </a:prstGeom>
          <a:solidFill>
            <a:srgbClr val="E1E5E9"/>
          </a:solidFill>
          <a:ln>
            <a:solidFill>
              <a:srgbClr val="E1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E66E16-A513-1498-101A-53C6DE46D167}"/>
              </a:ext>
            </a:extLst>
          </p:cNvPr>
          <p:cNvSpPr txBox="1"/>
          <p:nvPr/>
        </p:nvSpPr>
        <p:spPr>
          <a:xfrm>
            <a:off x="9652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C7422F"/>
                </a:solidFill>
                <a:latin typeface="Georgia" panose="02040502050405020303" pitchFamily="18" charset="0"/>
              </a:rPr>
              <a:t>01</a:t>
            </a:r>
            <a:endParaRPr lang="ko-KR" altLang="en-US" sz="22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FEA9EB-DC03-E7EF-3B9B-142E7D540AE6}"/>
              </a:ext>
            </a:extLst>
          </p:cNvPr>
          <p:cNvSpPr txBox="1"/>
          <p:nvPr/>
        </p:nvSpPr>
        <p:spPr>
          <a:xfrm>
            <a:off x="9652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Brief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DD65B2-8C25-A3E8-997A-394ABA177C95}"/>
              </a:ext>
            </a:extLst>
          </p:cNvPr>
          <p:cNvSpPr txBox="1"/>
          <p:nvPr/>
        </p:nvSpPr>
        <p:spPr>
          <a:xfrm>
            <a:off x="33274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254E70"/>
                </a:solidFill>
                <a:latin typeface="Georgia" panose="02040502050405020303" pitchFamily="18" charset="0"/>
              </a:rPr>
              <a:t>02</a:t>
            </a:r>
            <a:endParaRPr lang="ko-KR" altLang="en-US" sz="22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3227C-53A0-E519-A6E8-45D0BB745418}"/>
              </a:ext>
            </a:extLst>
          </p:cNvPr>
          <p:cNvSpPr txBox="1"/>
          <p:nvPr/>
        </p:nvSpPr>
        <p:spPr>
          <a:xfrm>
            <a:off x="33274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Select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BD735F-F7C1-5B55-EEA3-4DE92912F8B0}"/>
              </a:ext>
            </a:extLst>
          </p:cNvPr>
          <p:cNvSpPr txBox="1"/>
          <p:nvPr/>
        </p:nvSpPr>
        <p:spPr>
          <a:xfrm>
            <a:off x="56896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6B7D6A"/>
                </a:solidFill>
                <a:latin typeface="Georgia" panose="02040502050405020303" pitchFamily="18" charset="0"/>
              </a:rPr>
              <a:t>03</a:t>
            </a:r>
            <a:endParaRPr lang="ko-KR" altLang="en-US" sz="2200" b="1">
              <a:solidFill>
                <a:srgbClr val="6B7D6A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B8B1F5-1F08-8862-687D-63812194C847}"/>
              </a:ext>
            </a:extLst>
          </p:cNvPr>
          <p:cNvSpPr txBox="1"/>
          <p:nvPr/>
        </p:nvSpPr>
        <p:spPr>
          <a:xfrm>
            <a:off x="5689600" y="3937000"/>
            <a:ext cx="2032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Compose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3B762E-7243-80A7-0A6B-1F549706796F}"/>
              </a:ext>
            </a:extLst>
          </p:cNvPr>
          <p:cNvSpPr txBox="1"/>
          <p:nvPr/>
        </p:nvSpPr>
        <p:spPr>
          <a:xfrm>
            <a:off x="8051800" y="2235200"/>
            <a:ext cx="6858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200" b="1">
                <a:solidFill>
                  <a:srgbClr val="171A1F"/>
                </a:solidFill>
                <a:latin typeface="Georgia" panose="02040502050405020303" pitchFamily="18" charset="0"/>
              </a:rPr>
              <a:t>04</a:t>
            </a:r>
            <a:endParaRPr lang="ko-KR" altLang="en-US" sz="2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868B92-ABCD-185D-543A-32B1DFF126BB}"/>
              </a:ext>
            </a:extLst>
          </p:cNvPr>
          <p:cNvSpPr txBox="1"/>
          <p:nvPr/>
        </p:nvSpPr>
        <p:spPr>
          <a:xfrm>
            <a:off x="8051800" y="3937000"/>
            <a:ext cx="24130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 b="1">
                <a:solidFill>
                  <a:srgbClr val="171A1F"/>
                </a:solidFill>
                <a:latin typeface="Arial" panose="020B0604020202020204" pitchFamily="34" charset="0"/>
              </a:rPr>
              <a:t>Review</a:t>
            </a:r>
            <a:endParaRPr lang="ko-KR" altLang="en-US" sz="14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02F3D-7106-3113-B6E6-C253F3AE0F7E}"/>
              </a:ext>
            </a:extLst>
          </p:cNvPr>
          <p:cNvSpPr txBox="1"/>
          <p:nvPr/>
        </p:nvSpPr>
        <p:spPr>
          <a:xfrm>
            <a:off x="736600" y="5384800"/>
            <a:ext cx="9652000" cy="482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stage records intent so the next pass starts with context—not guesswork.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47345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618F05-BA49-F12A-E313-60EE231598F0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Template-first changes the economics of quality.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A60AE1A-33E6-E2D5-014A-DD2D9378F87D}"/>
              </a:ext>
            </a:extLst>
          </p:cNvPr>
          <p:cNvSpPr/>
          <p:nvPr/>
        </p:nvSpPr>
        <p:spPr>
          <a:xfrm>
            <a:off x="736600" y="2184400"/>
            <a:ext cx="2870200" cy="33528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9A5B2-9803-A24B-FFCF-AC96291A99A8}"/>
              </a:ext>
            </a:extLst>
          </p:cNvPr>
          <p:cNvSpPr txBox="1"/>
          <p:nvPr/>
        </p:nvSpPr>
        <p:spPr>
          <a:xfrm>
            <a:off x="10414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Scratch generation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0BF31E-DF04-EDDB-6978-188AE886407E}"/>
              </a:ext>
            </a:extLst>
          </p:cNvPr>
          <p:cNvSpPr txBox="1"/>
          <p:nvPr/>
        </p:nvSpPr>
        <p:spPr>
          <a:xfrm>
            <a:off x="10414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Fast to start · Expensive to refine · Style drifts by slide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9F50678-C038-3F10-39C6-5E33D47498AA}"/>
              </a:ext>
            </a:extLst>
          </p:cNvPr>
          <p:cNvSpPr/>
          <p:nvPr/>
        </p:nvSpPr>
        <p:spPr>
          <a:xfrm>
            <a:off x="4394200" y="1854200"/>
            <a:ext cx="3403600" cy="40132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4383E0-3CD8-E63E-125E-6FF5BA031A06}"/>
              </a:ext>
            </a:extLst>
          </p:cNvPr>
          <p:cNvSpPr txBox="1"/>
          <p:nvPr/>
        </p:nvSpPr>
        <p:spPr>
          <a:xfrm>
            <a:off x="4800600" y="2717800"/>
            <a:ext cx="2590800" cy="1320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3000" b="1">
                <a:solidFill>
                  <a:srgbClr val="FFFFFF"/>
                </a:solidFill>
                <a:latin typeface="Georgia" panose="02040502050405020303" pitchFamily="18" charset="0"/>
              </a:rPr>
              <a:t>VS</a:t>
            </a:r>
            <a:endParaRPr lang="ko-KR" altLang="en-US" sz="30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E6886DE-84E3-2CD9-43B8-2E1A6FBAED97}"/>
              </a:ext>
            </a:extLst>
          </p:cNvPr>
          <p:cNvSpPr/>
          <p:nvPr/>
        </p:nvSpPr>
        <p:spPr>
          <a:xfrm>
            <a:off x="8585200" y="2184400"/>
            <a:ext cx="2870200" cy="3352800"/>
          </a:xfrm>
          <a:prstGeom prst="rect">
            <a:avLst/>
          </a:prstGeom>
          <a:solidFill>
            <a:srgbClr val="DDE5EA"/>
          </a:solidFill>
          <a:ln>
            <a:solidFill>
              <a:srgbClr val="DDE5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C5F73-29D7-820F-FB28-C2E1961C4F8B}"/>
              </a:ext>
            </a:extLst>
          </p:cNvPr>
          <p:cNvSpPr txBox="1"/>
          <p:nvPr/>
        </p:nvSpPr>
        <p:spPr>
          <a:xfrm>
            <a:off x="8890000" y="2565400"/>
            <a:ext cx="2235200" cy="60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Native library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920B78-7C16-E1C0-84CE-4A66771CEE36}"/>
              </a:ext>
            </a:extLst>
          </p:cNvPr>
          <p:cNvSpPr txBox="1"/>
          <p:nvPr/>
        </p:nvSpPr>
        <p:spPr>
          <a:xfrm>
            <a:off x="8890000" y="3479800"/>
            <a:ext cx="2235200" cy="154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525A63"/>
                </a:solidFill>
                <a:latin typeface="Arial" panose="020B0604020202020204" pitchFamily="34" charset="0"/>
              </a:rPr>
              <a:t>Slower once · Faster every time · Coherent by design</a:t>
            </a:r>
            <a:endParaRPr lang="ko-KR" altLang="en-US" sz="12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8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F247FA-C4ED-7A98-505B-4845238AEC92}"/>
              </a:ext>
            </a:extLst>
          </p:cNvPr>
          <p:cNvSpPr txBox="1"/>
          <p:nvPr/>
        </p:nvSpPr>
        <p:spPr>
          <a:xfrm>
            <a:off x="736600" y="5588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Evidence should survive the meeting.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FA9734-C3C7-A159-324B-C5856659ED26}"/>
              </a:ext>
            </a:extLst>
          </p:cNvPr>
          <p:cNvSpPr txBox="1"/>
          <p:nvPr/>
        </p:nvSpPr>
        <p:spPr>
          <a:xfrm>
            <a:off x="736600" y="1473200"/>
            <a:ext cx="9652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Each gate leaves a visible, auditable result—not a promise.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C835FB3-CE03-74DB-5641-DCBC54CB24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86224"/>
              </p:ext>
            </p:extLst>
          </p:nvPr>
        </p:nvGraphicFramePr>
        <p:xfrm>
          <a:off x="736600" y="2336800"/>
          <a:ext cx="10693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4467">
                  <a:extLst>
                    <a:ext uri="{9D8B030D-6E8A-4147-A177-3AD203B41FA5}">
                      <a16:colId xmlns:a16="http://schemas.microsoft.com/office/drawing/2014/main" val="637273554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2223235915"/>
                    </a:ext>
                  </a:extLst>
                </a:gridCol>
                <a:gridCol w="3564467">
                  <a:extLst>
                    <a:ext uri="{9D8B030D-6E8A-4147-A177-3AD203B41FA5}">
                      <a16:colId xmlns:a16="http://schemas.microsoft.com/office/drawing/2014/main" val="864368342"/>
                    </a:ext>
                  </a:extLst>
                </a:gridCol>
              </a:tblGrid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Gate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Evidence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Result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196314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Structure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Native reopen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762321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Visual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Full render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PASS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3093002"/>
                  </a:ext>
                </a:extLst>
              </a:tr>
              <a:tr h="8001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Package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Open XML SDK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PASS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083224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CFC9C17-6F94-1798-0B81-5324E4206D97}"/>
              </a:ext>
            </a:extLst>
          </p:cNvPr>
          <p:cNvSpPr txBox="1"/>
          <p:nvPr/>
        </p:nvSpPr>
        <p:spPr>
          <a:xfrm>
            <a:off x="8255000" y="5816600"/>
            <a:ext cx="317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STRUCTURE · VISUAL · PACKAGE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2403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B53745C-B1D5-4A5E-665E-51073BD56BAB}"/>
              </a:ext>
            </a:extLst>
          </p:cNvPr>
          <p:cNvSpPr txBox="1"/>
          <p:nvPr/>
        </p:nvSpPr>
        <p:spPr>
          <a:xfrm>
            <a:off x="736600" y="6096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HUMAN CONTEXT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754A71-FAA4-19BB-2646-F4E3348E95B2}"/>
              </a:ext>
            </a:extLst>
          </p:cNvPr>
          <p:cNvSpPr txBox="1"/>
          <p:nvPr/>
        </p:nvSpPr>
        <p:spPr>
          <a:xfrm>
            <a:off x="736600" y="1092200"/>
            <a:ext cx="4826000" cy="1422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</a:rPr>
              <a:t>Use the right image, not another rectangle.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15FF2D-7433-1984-2C44-37D94D4649B4}"/>
              </a:ext>
            </a:extLst>
          </p:cNvPr>
          <p:cNvSpPr txBox="1"/>
          <p:nvPr/>
        </p:nvSpPr>
        <p:spPr>
          <a:xfrm>
            <a:off x="736600" y="2946400"/>
            <a:ext cx="4521200" cy="228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525A63"/>
                </a:solidFill>
                <a:latin typeface="Arial" panose="020B0604020202020204" pitchFamily="34" charset="0"/>
              </a:rPr>
              <a:t>Approved imagery creates meaning, pace, and memory while remaining replaceable in native PowerPoint.</a:t>
            </a:r>
            <a:endParaRPr lang="ko-KR" altLang="en-US" sz="1500">
              <a:solidFill>
                <a:srgbClr val="525A63"/>
              </a:solidFill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20CBF0-15A7-27EF-69AA-580ED7148F6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400" y="1168400"/>
            <a:ext cx="4445000" cy="4445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577645D-2FE6-F4EF-4C52-ECA91EE1F5CB}"/>
              </a:ext>
            </a:extLst>
          </p:cNvPr>
          <p:cNvSpPr txBox="1"/>
          <p:nvPr/>
        </p:nvSpPr>
        <p:spPr>
          <a:xfrm>
            <a:off x="6375400" y="5791200"/>
            <a:ext cx="4445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1100">
                <a:solidFill>
                  <a:srgbClr val="646B73"/>
                </a:solidFill>
                <a:latin typeface="Arial" panose="020B0604020202020204" pitchFamily="34" charset="0"/>
              </a:rPr>
              <a:t>The layout protects crop, hierarchy, and reading order.</a:t>
            </a:r>
            <a:endParaRPr lang="ko-KR" altLang="en-US" sz="11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10129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568D29-240F-5D45-ECFF-8812ECC14C25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A repeatable operating model for every high-stakes deck.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37ECDC-7C3D-6F3E-4276-A3BCB822FBE8}"/>
              </a:ext>
            </a:extLst>
          </p:cNvPr>
          <p:cNvSpPr txBox="1"/>
          <p:nvPr/>
        </p:nvSpPr>
        <p:spPr>
          <a:xfrm>
            <a:off x="787400" y="22352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01  Frame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B176DF-8C0B-7F7D-348A-5223FC532BF1}"/>
              </a:ext>
            </a:extLst>
          </p:cNvPr>
          <p:cNvSpPr txBox="1"/>
          <p:nvPr/>
        </p:nvSpPr>
        <p:spPr>
          <a:xfrm>
            <a:off x="787400" y="29718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Audience and decision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A4B93F88-7FE1-B52E-B46B-9CEFFDC9C0F9}"/>
              </a:ext>
            </a:extLst>
          </p:cNvPr>
          <p:cNvSpPr/>
          <p:nvPr/>
        </p:nvSpPr>
        <p:spPr>
          <a:xfrm>
            <a:off x="787400" y="4394200"/>
            <a:ext cx="2159000" cy="1778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FE0A3-9DD1-C5B0-5C76-2E0F5DB41EC6}"/>
              </a:ext>
            </a:extLst>
          </p:cNvPr>
          <p:cNvSpPr txBox="1"/>
          <p:nvPr/>
        </p:nvSpPr>
        <p:spPr>
          <a:xfrm>
            <a:off x="3429000" y="27178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02  Match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89206B-C42E-1F28-6EE4-65313D576E62}"/>
              </a:ext>
            </a:extLst>
          </p:cNvPr>
          <p:cNvSpPr txBox="1"/>
          <p:nvPr/>
        </p:nvSpPr>
        <p:spPr>
          <a:xfrm>
            <a:off x="3429000" y="34544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Archetype and density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9780DE7-135A-17B8-825A-29902C4E2DCA}"/>
              </a:ext>
            </a:extLst>
          </p:cNvPr>
          <p:cNvSpPr/>
          <p:nvPr/>
        </p:nvSpPr>
        <p:spPr>
          <a:xfrm>
            <a:off x="3429000" y="4876800"/>
            <a:ext cx="2159000" cy="177800"/>
          </a:xfrm>
          <a:prstGeom prst="rect">
            <a:avLst/>
          </a:prstGeom>
          <a:solidFill>
            <a:srgbClr val="254E70"/>
          </a:solidFill>
          <a:ln>
            <a:solidFill>
              <a:srgbClr val="254E7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9FDE2D-ADD2-3D67-6B10-A83E72CF0278}"/>
              </a:ext>
            </a:extLst>
          </p:cNvPr>
          <p:cNvSpPr txBox="1"/>
          <p:nvPr/>
        </p:nvSpPr>
        <p:spPr>
          <a:xfrm>
            <a:off x="6070600" y="32004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03  Build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89E46B-921F-5766-54B0-D76B5C02B1A9}"/>
              </a:ext>
            </a:extLst>
          </p:cNvPr>
          <p:cNvSpPr txBox="1"/>
          <p:nvPr/>
        </p:nvSpPr>
        <p:spPr>
          <a:xfrm>
            <a:off x="6070600" y="39370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Native content objects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28ECBA-1DEA-27E9-5745-46CDCD3040BE}"/>
              </a:ext>
            </a:extLst>
          </p:cNvPr>
          <p:cNvSpPr/>
          <p:nvPr/>
        </p:nvSpPr>
        <p:spPr>
          <a:xfrm>
            <a:off x="6070600" y="5359400"/>
            <a:ext cx="2159000" cy="177800"/>
          </a:xfrm>
          <a:prstGeom prst="rect">
            <a:avLst/>
          </a:prstGeom>
          <a:solidFill>
            <a:srgbClr val="6B7D6A"/>
          </a:solidFill>
          <a:ln>
            <a:solidFill>
              <a:srgbClr val="6B7D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DDE64F-3FE6-5156-57B7-F1BF660B3C83}"/>
              </a:ext>
            </a:extLst>
          </p:cNvPr>
          <p:cNvSpPr txBox="1"/>
          <p:nvPr/>
        </p:nvSpPr>
        <p:spPr>
          <a:xfrm>
            <a:off x="8712200" y="3683000"/>
            <a:ext cx="2159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 b="1">
                <a:solidFill>
                  <a:srgbClr val="171A1F"/>
                </a:solidFill>
                <a:latin typeface="Arial" panose="020B0604020202020204" pitchFamily="34" charset="0"/>
              </a:rPr>
              <a:t>04  Prove</a:t>
            </a:r>
            <a:endParaRPr lang="ko-KR" altLang="en-US" sz="16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D726ED-3EF2-A748-0604-62FBBC6BCC14}"/>
              </a:ext>
            </a:extLst>
          </p:cNvPr>
          <p:cNvSpPr txBox="1"/>
          <p:nvPr/>
        </p:nvSpPr>
        <p:spPr>
          <a:xfrm>
            <a:off x="8712200" y="4419600"/>
            <a:ext cx="2159000" cy="1041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Render and critique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36D226-7DA1-B022-39D1-FF8B8DE032D4}"/>
              </a:ext>
            </a:extLst>
          </p:cNvPr>
          <p:cNvSpPr/>
          <p:nvPr/>
        </p:nvSpPr>
        <p:spPr>
          <a:xfrm>
            <a:off x="8712200" y="5842000"/>
            <a:ext cx="2159000" cy="177800"/>
          </a:xfrm>
          <a:prstGeom prst="rect">
            <a:avLst/>
          </a:prstGeom>
          <a:solidFill>
            <a:srgbClr val="171A1F"/>
          </a:solidFill>
          <a:ln>
            <a:solidFill>
              <a:srgbClr val="171A1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1403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9BF9C1-0EE4-7910-4C6A-CF2CC56F62C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From generic output to a designed argument.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4ECCC-7C0C-9FDE-2F88-1989C40A7703}"/>
              </a:ext>
            </a:extLst>
          </p:cNvPr>
          <p:cNvSpPr txBox="1"/>
          <p:nvPr/>
        </p:nvSpPr>
        <p:spPr>
          <a:xfrm>
            <a:off x="736600" y="2209800"/>
            <a:ext cx="3810000" cy="660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400" b="1">
                <a:solidFill>
                  <a:srgbClr val="646B73"/>
                </a:solidFill>
                <a:latin typeface="Georgia" panose="02040502050405020303" pitchFamily="18" charset="0"/>
              </a:rPr>
              <a:t>Generic</a:t>
            </a:r>
            <a:endParaRPr lang="ko-KR" altLang="en-US" sz="2400" b="1">
              <a:solidFill>
                <a:srgbClr val="646B73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442FE-16AA-B5CA-2E09-5EE6898D11A1}"/>
              </a:ext>
            </a:extLst>
          </p:cNvPr>
          <p:cNvSpPr txBox="1"/>
          <p:nvPr/>
        </p:nvSpPr>
        <p:spPr>
          <a:xfrm>
            <a:off x="736600" y="3175000"/>
            <a:ext cx="3810000" cy="1905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646B73"/>
                </a:solidFill>
                <a:latin typeface="Arial" panose="020B0604020202020204" pitchFamily="34" charset="0"/>
              </a:rPr>
              <a:t>Same grid · Same cards · Same visual rhythm</a:t>
            </a:r>
            <a:endParaRPr lang="ko-KR" altLang="en-US" sz="14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5" name="화살표: 오른쪽 4">
            <a:extLst>
              <a:ext uri="{FF2B5EF4-FFF2-40B4-BE49-F238E27FC236}">
                <a16:creationId xmlns:a16="http://schemas.microsoft.com/office/drawing/2014/main" id="{9094A895-52E4-F175-D691-78EE791ED5EC}"/>
              </a:ext>
            </a:extLst>
          </p:cNvPr>
          <p:cNvSpPr/>
          <p:nvPr/>
        </p:nvSpPr>
        <p:spPr>
          <a:xfrm>
            <a:off x="5283200" y="3200400"/>
            <a:ext cx="1168400" cy="558800"/>
          </a:xfrm>
          <a:prstGeom prst="rightArrow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C46571-FDFA-BE6B-BA80-7437C47EF091}"/>
              </a:ext>
            </a:extLst>
          </p:cNvPr>
          <p:cNvSpPr txBox="1"/>
          <p:nvPr/>
        </p:nvSpPr>
        <p:spPr>
          <a:xfrm>
            <a:off x="7188200" y="1955800"/>
            <a:ext cx="4191000" cy="73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171A1F"/>
                </a:solidFill>
                <a:latin typeface="Georgia" panose="02040502050405020303" pitchFamily="18" charset="0"/>
              </a:rPr>
              <a:t>Directed</a:t>
            </a:r>
            <a:endParaRPr lang="ko-KR" altLang="en-US" sz="28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BDDD1B-BD02-15E3-1932-0AA7B6C313C1}"/>
              </a:ext>
            </a:extLst>
          </p:cNvPr>
          <p:cNvSpPr txBox="1"/>
          <p:nvPr/>
        </p:nvSpPr>
        <p:spPr>
          <a:xfrm>
            <a:off x="7188200" y="3022600"/>
            <a:ext cx="4191000" cy="2209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3D444C"/>
                </a:solidFill>
                <a:latin typeface="Arial" panose="020B0604020202020204" pitchFamily="34" charset="0"/>
              </a:rPr>
              <a:t>Distinct scenes · Evidence-led hierarchy · One visual thesis</a:t>
            </a:r>
            <a:endParaRPr lang="ko-KR" altLang="en-US" sz="15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573CB9-19BD-7FAA-D16C-4205D5C41AB5}"/>
              </a:ext>
            </a:extLst>
          </p:cNvPr>
          <p:cNvSpPr txBox="1"/>
          <p:nvPr/>
        </p:nvSpPr>
        <p:spPr>
          <a:xfrm>
            <a:off x="7188200" y="5511800"/>
            <a:ext cx="4191000" cy="431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200" b="1">
                <a:solidFill>
                  <a:srgbClr val="C7422F"/>
                </a:solidFill>
                <a:latin typeface="Arial" panose="020B0604020202020204" pitchFamily="34" charset="0"/>
              </a:rPr>
              <a:t>SHIFT</a:t>
            </a:r>
            <a:endParaRPr lang="ko-KR" altLang="en-US" sz="12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583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4E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751411-E709-DF46-D51F-426C19205690}"/>
              </a:ext>
            </a:extLst>
          </p:cNvPr>
          <p:cNvSpPr txBox="1"/>
          <p:nvPr/>
        </p:nvSpPr>
        <p:spPr>
          <a:xfrm>
            <a:off x="736600" y="1092200"/>
            <a:ext cx="1143000" cy="1270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ko-KR" altLang="en-US" sz="7800" b="1">
                <a:solidFill>
                  <a:srgbClr val="D8583F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5621D-1DE1-A029-6EBF-5D58EAED4881}"/>
              </a:ext>
            </a:extLst>
          </p:cNvPr>
          <p:cNvSpPr txBox="1"/>
          <p:nvPr/>
        </p:nvSpPr>
        <p:spPr>
          <a:xfrm>
            <a:off x="1701800" y="1625600"/>
            <a:ext cx="8636000" cy="215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800" b="1">
                <a:solidFill>
                  <a:srgbClr val="FFFFFF"/>
                </a:solidFill>
                <a:latin typeface="Georgia" panose="02040502050405020303" pitchFamily="18" charset="0"/>
              </a:rPr>
              <a:t>Design is not decoration. It is decision infrastructure.</a:t>
            </a:r>
            <a:endParaRPr lang="ko-KR" altLang="en-US" sz="38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3827E-F171-5F9B-50C0-A16CA376A19A}"/>
              </a:ext>
            </a:extLst>
          </p:cNvPr>
          <p:cNvSpPr txBox="1"/>
          <p:nvPr/>
        </p:nvSpPr>
        <p:spPr>
          <a:xfrm>
            <a:off x="1752600" y="4368800"/>
            <a:ext cx="7620000" cy="711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500">
                <a:solidFill>
                  <a:srgbClr val="DDE5EA"/>
                </a:solidFill>
                <a:latin typeface="Arial" panose="020B0604020202020204" pitchFamily="34" charset="0"/>
              </a:rPr>
              <a:t>The strongest slide makes the next action feel inevitable.</a:t>
            </a:r>
            <a:endParaRPr lang="ko-KR" altLang="en-US" sz="1500">
              <a:solidFill>
                <a:srgbClr val="DDE5EA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61CBC7-5C54-A7AC-AF62-BDF55C376ADF}"/>
              </a:ext>
            </a:extLst>
          </p:cNvPr>
          <p:cNvSpPr txBox="1"/>
          <p:nvPr/>
        </p:nvSpPr>
        <p:spPr>
          <a:xfrm>
            <a:off x="1752600" y="5486400"/>
            <a:ext cx="5080000" cy="330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100" b="1">
                <a:solidFill>
                  <a:srgbClr val="FFFFFF"/>
                </a:solidFill>
                <a:latin typeface="Arial" panose="020B0604020202020204" pitchFamily="34" charset="0"/>
              </a:rPr>
              <a:t>MIXDOG OFFICE USE</a:t>
            </a:r>
            <a:endParaRPr lang="ko-KR" altLang="en-US" sz="11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82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4687718-38A7-21E4-56C8-3215A60176C9}"/>
              </a:ext>
            </a:extLst>
          </p:cNvPr>
          <p:cNvSpPr txBox="1"/>
          <p:nvPr/>
        </p:nvSpPr>
        <p:spPr>
          <a:xfrm>
            <a:off x="736600" y="5334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THE THESIS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192147-9353-6769-5226-70172B00E00F}"/>
              </a:ext>
            </a:extLst>
          </p:cNvPr>
          <p:cNvSpPr txBox="1"/>
          <p:nvPr/>
        </p:nvSpPr>
        <p:spPr>
          <a:xfrm>
            <a:off x="736600" y="9652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200" b="1">
                <a:solidFill>
                  <a:srgbClr val="171A1F"/>
                </a:solidFill>
                <a:latin typeface="Georgia" panose="02040502050405020303" pitchFamily="18" charset="0"/>
              </a:rPr>
              <a:t>Native templates create leverage only when selection is semantic.</a:t>
            </a:r>
            <a:endParaRPr lang="ko-KR" altLang="en-US" sz="32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99BEE-455A-FEE9-589A-901EA3700E71}"/>
              </a:ext>
            </a:extLst>
          </p:cNvPr>
          <p:cNvSpPr txBox="1"/>
          <p:nvPr/>
        </p:nvSpPr>
        <p:spPr>
          <a:xfrm>
            <a:off x="736600" y="2336800"/>
            <a:ext cx="6629400" cy="3149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400">
                <a:solidFill>
                  <a:srgbClr val="3D444C"/>
                </a:solidFill>
                <a:latin typeface="Arial" panose="020B0604020202020204" pitchFamily="34" charset="0"/>
              </a:rPr>
              <a:t>Layout variety matters. Matching the right structure to the message matters more.</a:t>
            </a:r>
            <a:endParaRPr lang="ko-KR" altLang="en-US" sz="1400">
              <a:solidFill>
                <a:srgbClr val="3D444C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C6EFAD5-A3DC-2B51-1144-C96BA6C04DED}"/>
              </a:ext>
            </a:extLst>
          </p:cNvPr>
          <p:cNvSpPr/>
          <p:nvPr/>
        </p:nvSpPr>
        <p:spPr>
          <a:xfrm>
            <a:off x="8204200" y="2209800"/>
            <a:ext cx="3175000" cy="3251200"/>
          </a:xfrm>
          <a:prstGeom prst="rect">
            <a:avLst/>
          </a:prstGeom>
          <a:solidFill>
            <a:srgbClr val="E9EDF0"/>
          </a:solidFill>
          <a:ln>
            <a:solidFill>
              <a:srgbClr val="E9ED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C5148B-34D5-4600-890D-10C12E2A684D}"/>
              </a:ext>
            </a:extLst>
          </p:cNvPr>
          <p:cNvSpPr txBox="1"/>
          <p:nvPr/>
        </p:nvSpPr>
        <p:spPr>
          <a:xfrm>
            <a:off x="8610600" y="2921000"/>
            <a:ext cx="2362200" cy="152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800" b="1">
                <a:solidFill>
                  <a:srgbClr val="254E70"/>
                </a:solidFill>
                <a:latin typeface="Georgia" panose="02040502050405020303" pitchFamily="18" charset="0"/>
              </a:rPr>
              <a:t>FORM FOLLOWS FUNCTION</a:t>
            </a:r>
            <a:endParaRPr lang="ko-KR" altLang="en-US" sz="28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6371A-227E-778F-0209-13190BE8E831}"/>
              </a:ext>
            </a:extLst>
          </p:cNvPr>
          <p:cNvSpPr txBox="1"/>
          <p:nvPr/>
        </p:nvSpPr>
        <p:spPr>
          <a:xfrm>
            <a:off x="736600" y="5969000"/>
            <a:ext cx="914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900">
                <a:solidFill>
                  <a:srgbClr val="7C838B"/>
                </a:solidFill>
                <a:latin typeface="Arial" panose="020B0604020202020204" pitchFamily="34" charset="0"/>
              </a:rPr>
              <a:t>Template-first · Content-aware · Review-gated</a:t>
            </a:r>
            <a:endParaRPr lang="ko-KR" altLang="en-US" sz="900">
              <a:solidFill>
                <a:srgbClr val="7C838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4803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FB9046-0626-EDB1-3AD4-5FC412D85CA4}"/>
              </a:ext>
            </a:extLst>
          </p:cNvPr>
          <p:cNvSpPr txBox="1"/>
          <p:nvPr/>
        </p:nvSpPr>
        <p:spPr>
          <a:xfrm>
            <a:off x="736600" y="584200"/>
            <a:ext cx="10414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300" b="1">
                <a:solidFill>
                  <a:srgbClr val="171A1F"/>
                </a:solidFill>
                <a:latin typeface="Georgia" panose="02040502050405020303" pitchFamily="18" charset="0"/>
              </a:rPr>
              <a:t>Measured improvement, visible in one glance.</a:t>
            </a:r>
            <a:endParaRPr lang="ko-KR" altLang="en-US" sz="33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B58BCA-9D4F-6786-411D-12714F60CB35}"/>
              </a:ext>
            </a:extLst>
          </p:cNvPr>
          <p:cNvSpPr txBox="1"/>
          <p:nvPr/>
        </p:nvSpPr>
        <p:spPr>
          <a:xfrm>
            <a:off x="9245600" y="2489200"/>
            <a:ext cx="2159000" cy="1016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4400" b="1">
                <a:solidFill>
                  <a:srgbClr val="C7422F"/>
                </a:solidFill>
                <a:latin typeface="Georgia" panose="02040502050405020303" pitchFamily="18" charset="0"/>
              </a:rPr>
              <a:t>−25%</a:t>
            </a:r>
            <a:endParaRPr lang="ko-KR" altLang="en-US" sz="44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20B269-D2AA-3909-92F6-32FE0D9D3D83}"/>
              </a:ext>
            </a:extLst>
          </p:cNvPr>
          <p:cNvSpPr txBox="1"/>
          <p:nvPr/>
        </p:nvSpPr>
        <p:spPr>
          <a:xfrm>
            <a:off x="9245600" y="3632200"/>
            <a:ext cx="2159000" cy="457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300" b="1">
                <a:solidFill>
                  <a:srgbClr val="171A1F"/>
                </a:solidFill>
                <a:latin typeface="Arial" panose="020B0604020202020204" pitchFamily="34" charset="0"/>
              </a:rPr>
              <a:t>API TIME</a:t>
            </a:r>
            <a:endParaRPr lang="ko-KR" altLang="en-US" sz="1300" b="1">
              <a:solidFill>
                <a:srgbClr val="171A1F"/>
              </a:solidFill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A3EB50-2C4A-B538-CB7C-147ECA8CA476}"/>
              </a:ext>
            </a:extLst>
          </p:cNvPr>
          <p:cNvSpPr txBox="1"/>
          <p:nvPr/>
        </p:nvSpPr>
        <p:spPr>
          <a:xfrm>
            <a:off x="8966200" y="4343400"/>
            <a:ext cx="2438400" cy="1066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r"/>
            <a:r>
              <a:rPr lang="en-US" altLang="ko-KR" sz="1200">
                <a:solidFill>
                  <a:srgbClr val="646B73"/>
                </a:solidFill>
                <a:latin typeface="Arial" panose="020B0604020202020204" pitchFamily="34" charset="0"/>
              </a:rPr>
              <a:t>25.57s → 19.04s</a:t>
            </a:r>
            <a:endParaRPr lang="ko-KR" altLang="en-US" sz="12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" name="차트 5">
            <a:extLst>
              <a:ext uri="{FF2B5EF4-FFF2-40B4-BE49-F238E27FC236}">
                <a16:creationId xmlns:a16="http://schemas.microsoft.com/office/drawing/2014/main" id="{0E72F4BF-60B7-D4B5-8CF6-26E33B2DE1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7461333"/>
              </p:ext>
            </p:extLst>
          </p:nvPr>
        </p:nvGraphicFramePr>
        <p:xfrm>
          <a:off x="736600" y="2108200"/>
          <a:ext cx="7747000" cy="375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2493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40A8D-2797-3007-4A89-C1A12B5E04A7}"/>
              </a:ext>
            </a:extLst>
          </p:cNvPr>
          <p:cNvSpPr txBox="1"/>
          <p:nvPr/>
        </p:nvSpPr>
        <p:spPr>
          <a:xfrm>
            <a:off x="736600" y="584200"/>
            <a:ext cx="4572000" cy="254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C7422F"/>
                </a:solidFill>
                <a:latin typeface="Arial" panose="020B0604020202020204" pitchFamily="34" charset="0"/>
              </a:rPr>
              <a:t>REVIEW GATES</a:t>
            </a:r>
            <a:endParaRPr lang="ko-KR" altLang="en-US" sz="1000" b="1">
              <a:solidFill>
                <a:srgbClr val="C7422F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9807A9-EF31-BEAC-5BBB-FACFD4373971}"/>
              </a:ext>
            </a:extLst>
          </p:cNvPr>
          <p:cNvSpPr txBox="1"/>
          <p:nvPr/>
        </p:nvSpPr>
        <p:spPr>
          <a:xfrm>
            <a:off x="736600" y="1041400"/>
            <a:ext cx="10414000" cy="914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3400" b="1">
                <a:solidFill>
                  <a:srgbClr val="171A1F"/>
                </a:solidFill>
                <a:latin typeface="Georgia" panose="02040502050405020303" pitchFamily="18" charset="0"/>
              </a:rPr>
              <a:t>Every deliverable passes three independent proofs.</a:t>
            </a:r>
            <a:endParaRPr lang="ko-KR" altLang="en-US" sz="34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C5EBA-856C-1DE8-F37C-26F34C455506}"/>
              </a:ext>
            </a:extLst>
          </p:cNvPr>
          <p:cNvSpPr txBox="1"/>
          <p:nvPr/>
        </p:nvSpPr>
        <p:spPr>
          <a:xfrm>
            <a:off x="736600" y="25908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171A1F"/>
                </a:solidFill>
                <a:latin typeface="Georgia" panose="02040502050405020303" pitchFamily="18" charset="0"/>
              </a:rPr>
              <a:t>Structure</a:t>
            </a:r>
            <a:endParaRPr lang="ko-KR" altLang="en-US" sz="2000" b="1">
              <a:solidFill>
                <a:srgbClr val="171A1F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353DE-5D61-A357-EF63-C7C0E9DE86B4}"/>
              </a:ext>
            </a:extLst>
          </p:cNvPr>
          <p:cNvSpPr txBox="1"/>
          <p:nvPr/>
        </p:nvSpPr>
        <p:spPr>
          <a:xfrm>
            <a:off x="736600" y="34290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Native reopen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F247C-88B5-2331-EAA4-358D329FC166}"/>
              </a:ext>
            </a:extLst>
          </p:cNvPr>
          <p:cNvSpPr txBox="1"/>
          <p:nvPr/>
        </p:nvSpPr>
        <p:spPr>
          <a:xfrm>
            <a:off x="4495800" y="31242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254E70"/>
                </a:solidFill>
                <a:latin typeface="Georgia" panose="02040502050405020303" pitchFamily="18" charset="0"/>
              </a:rPr>
              <a:t>Visual</a:t>
            </a:r>
            <a:endParaRPr lang="ko-KR" altLang="en-US" sz="2000" b="1">
              <a:solidFill>
                <a:srgbClr val="254E70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5BB258-AFC7-15CC-CC28-997015C3F0C5}"/>
              </a:ext>
            </a:extLst>
          </p:cNvPr>
          <p:cNvSpPr txBox="1"/>
          <p:nvPr/>
        </p:nvSpPr>
        <p:spPr>
          <a:xfrm>
            <a:off x="4495800" y="39624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Full-slide render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394FBA-FCAB-3D60-AEF8-895732DF467A}"/>
              </a:ext>
            </a:extLst>
          </p:cNvPr>
          <p:cNvSpPr txBox="1"/>
          <p:nvPr/>
        </p:nvSpPr>
        <p:spPr>
          <a:xfrm>
            <a:off x="8255000" y="3657600"/>
            <a:ext cx="2921000" cy="5842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2000" b="1">
                <a:solidFill>
                  <a:srgbClr val="C7422F"/>
                </a:solidFill>
                <a:latin typeface="Georgia" panose="02040502050405020303" pitchFamily="18" charset="0"/>
              </a:rPr>
              <a:t>Package</a:t>
            </a:r>
            <a:endParaRPr lang="ko-KR" altLang="en-US" sz="2000" b="1">
              <a:solidFill>
                <a:srgbClr val="C7422F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AD43B1-8D1A-AFFA-60FB-0FCD196465B1}"/>
              </a:ext>
            </a:extLst>
          </p:cNvPr>
          <p:cNvSpPr txBox="1"/>
          <p:nvPr/>
        </p:nvSpPr>
        <p:spPr>
          <a:xfrm>
            <a:off x="8255000" y="4495800"/>
            <a:ext cx="2921000" cy="1117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300">
                <a:solidFill>
                  <a:srgbClr val="646B73"/>
                </a:solidFill>
                <a:latin typeface="Arial" panose="020B0604020202020204" pitchFamily="34" charset="0"/>
              </a:rPr>
              <a:t>Open XML validation</a:t>
            </a:r>
            <a:endParaRPr lang="ko-KR" altLang="en-US" sz="1300">
              <a:solidFill>
                <a:srgbClr val="646B73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996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4B455A-5CBF-C36E-787E-3E1704419809}"/>
              </a:ext>
            </a:extLst>
          </p:cNvPr>
          <p:cNvSpPr txBox="1"/>
          <p:nvPr/>
        </p:nvSpPr>
        <p:spPr>
          <a:xfrm>
            <a:off x="736600" y="787400"/>
            <a:ext cx="5334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 b="1">
                <a:solidFill>
                  <a:srgbClr val="DC5F46"/>
                </a:solidFill>
                <a:latin typeface="Arial" panose="020B0604020202020204" pitchFamily="34" charset="0"/>
              </a:rPr>
              <a:t>NEXT</a:t>
            </a:r>
            <a:endParaRPr lang="ko-KR" altLang="en-US" sz="1000" b="1">
              <a:solidFill>
                <a:srgbClr val="DC5F46"/>
              </a:solidFill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0E39-72CA-08A6-F028-BC925411183F}"/>
              </a:ext>
            </a:extLst>
          </p:cNvPr>
          <p:cNvSpPr txBox="1"/>
          <p:nvPr/>
        </p:nvSpPr>
        <p:spPr>
          <a:xfrm>
            <a:off x="736600" y="1854200"/>
            <a:ext cx="8890000" cy="19558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4200" b="1">
                <a:solidFill>
                  <a:srgbClr val="FFFFFF"/>
                </a:solidFill>
                <a:latin typeface="Georgia" panose="02040502050405020303" pitchFamily="18" charset="0"/>
              </a:rPr>
              <a:t>Build once. Present with confidence.</a:t>
            </a:r>
            <a:endParaRPr lang="ko-KR" altLang="en-US" sz="42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2C8AAC-D616-4899-E715-A222B68B1B13}"/>
              </a:ext>
            </a:extLst>
          </p:cNvPr>
          <p:cNvSpPr txBox="1"/>
          <p:nvPr/>
        </p:nvSpPr>
        <p:spPr>
          <a:xfrm>
            <a:off x="787400" y="4292600"/>
            <a:ext cx="8255000" cy="8890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600">
                <a:solidFill>
                  <a:srgbClr val="C7CBD1"/>
                </a:solidFill>
                <a:latin typeface="Arial" panose="020B0604020202020204" pitchFamily="34" charset="0"/>
              </a:rPr>
              <a:t>A native design system that gets stronger with every approved slide.</a:t>
            </a:r>
            <a:endParaRPr lang="ko-KR" altLang="en-US" sz="1600">
              <a:solidFill>
                <a:srgbClr val="C7CBD1"/>
              </a:solidFill>
              <a:latin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32114B3-45C5-621A-7E70-0EF7A8B4B00A}"/>
              </a:ext>
            </a:extLst>
          </p:cNvPr>
          <p:cNvSpPr/>
          <p:nvPr/>
        </p:nvSpPr>
        <p:spPr>
          <a:xfrm>
            <a:off x="10007600" y="1828800"/>
            <a:ext cx="1422400" cy="3200400"/>
          </a:xfrm>
          <a:prstGeom prst="rect">
            <a:avLst/>
          </a:prstGeom>
          <a:solidFill>
            <a:srgbClr val="C7422F"/>
          </a:solidFill>
          <a:ln>
            <a:solidFill>
              <a:srgbClr val="C7422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C7AD67-7D27-7318-132B-78BEC7BB34BB}"/>
              </a:ext>
            </a:extLst>
          </p:cNvPr>
          <p:cNvSpPr txBox="1"/>
          <p:nvPr/>
        </p:nvSpPr>
        <p:spPr>
          <a:xfrm>
            <a:off x="10236200" y="2362200"/>
            <a:ext cx="965200" cy="20066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algn="ctr"/>
            <a:r>
              <a:rPr lang="en-US" altLang="ko-KR" sz="2500" b="1">
                <a:solidFill>
                  <a:srgbClr val="FFFFFF"/>
                </a:solidFill>
                <a:latin typeface="Georgia" panose="02040502050405020303" pitchFamily="18" charset="0"/>
              </a:rPr>
              <a:t>MIXDOG</a:t>
            </a:r>
            <a:endParaRPr lang="ko-KR" altLang="en-US" sz="2500" b="1">
              <a:solidFill>
                <a:srgbClr val="FFFFFF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297F2B-B453-DD4C-081F-40ABA5A6D3F4}"/>
              </a:ext>
            </a:extLst>
          </p:cNvPr>
          <p:cNvSpPr txBox="1"/>
          <p:nvPr/>
        </p:nvSpPr>
        <p:spPr>
          <a:xfrm>
            <a:off x="787400" y="6070600"/>
            <a:ext cx="7620000" cy="27940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r>
              <a:rPr lang="en-US" altLang="ko-KR" sz="1000">
                <a:solidFill>
                  <a:srgbClr val="8F969E"/>
                </a:solidFill>
                <a:latin typeface="Arial" panose="020B0604020202020204" pitchFamily="34" charset="0"/>
              </a:rPr>
              <a:t>Office Use · Template-first authoring</a:t>
            </a:r>
            <a:endParaRPr lang="ko-KR" altLang="en-US" sz="1000">
              <a:solidFill>
                <a:srgbClr val="8F969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2884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ixdog TextBox 2"/>
          <p:cNvSpPr txBox="1"/>
          <p:nvPr/>
        </p:nvSpPr>
        <p:spPr>
          <a:xfrm>
            <a:off x="736600" y="660400"/>
            <a:ext cx="106934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71A1F"/>
                </a:solidFill>
                <a:latin typeface="Georgia"/>
                <a:ea typeface="Georgia"/>
                <a:cs typeface="Georgia"/>
              </a:rPr>
              <a:t>Comparison at a glance</a:t>
            </a:r>
          </a:p>
        </p:txBody>
      </p:sp>
      <p:sp>
        <p:nvSpPr>
          <p:cNvPr id="3" name="Mixdog TextBox 3"/>
          <p:cNvSpPr txBox="1"/>
          <p:nvPr/>
        </p:nvSpPr>
        <p:spPr>
          <a:xfrm>
            <a:off x="736600" y="1473200"/>
            <a:ext cx="106934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7C838B"/>
                </a:solidFill>
                <a:latin typeface="Arial"/>
                <a:ea typeface="Arial"/>
                <a:cs typeface="Arial"/>
              </a:rPr>
              <a:t>Baseline versus target across the tracked dimensions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36600" y="2133600"/>
          <a:ext cx="10693400" cy="3708400"/>
        </p:xfrm>
        <a:graphic>
          <a:graphicData uri="http://schemas.openxmlformats.org/drawingml/2006/table">
            <a:tbl>
              <a:tblPr firstRow="1" bandRow="1"/>
              <a:tblGrid>
                <a:gridCol w="3564467"/>
                <a:gridCol w="3564467"/>
                <a:gridCol w="3564467"/>
              </a:tblGrid>
              <a:tr h="5842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Baseline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</a:t>
                      </a:r>
                    </a:p>
                  </a:txBody>
                  <a:tcPr anchor="ctr">
                    <a:solidFill>
                      <a:srgbClr val="171A1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62%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Latency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820ms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400ms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Cost per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$1.20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$0.75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74700"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Adoption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18%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88900" tIns="38100" rIns="88900" bIns="38100" anchor="ctr">
                      <a:noAutofit/>
                    </a:bodyPr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D444C"/>
                          </a:solidFill>
                          <a:latin typeface="Arial"/>
                          <a:ea typeface="Arial"/>
                          <a:cs typeface="Arial"/>
                        </a:rPr>
                        <a:t>45%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사설적">
  <a:themeElements>
    <a:clrScheme name="사설적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884</Words>
  <Application>Microsoft Office PowerPoint</Application>
  <PresentationFormat>와이드스크린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5" baseType="lpstr">
      <vt:lpstr>맑은 고딕</vt:lpstr>
      <vt:lpstr>Aptos</vt:lpstr>
      <vt:lpstr>Arial</vt:lpstr>
      <vt:lpstr>Georgia</vt:lpstr>
      <vt:lpstr>Haettenschweiler</vt:lpstr>
      <vt:lpstr>Trade Gothic Next Light</vt:lpstr>
      <vt:lpstr>사설적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재영 박</dc:creator>
  <cp:lastModifiedBy>재영 박</cp:lastModifiedBy>
  <cp:revision>6</cp:revision>
  <dcterms:created xsi:type="dcterms:W3CDTF">2026-08-28T15:13:24Z</dcterms:created>
  <dcterms:modified xsi:type="dcterms:W3CDTF">2026-08-28T15:14:39Z</dcterms:modified>
</cp:coreProperties>
</file>