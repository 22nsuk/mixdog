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Cycle time · seconds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Value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Current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25.57</c:v>
                </c:pt>
                <c:pt idx="1">
                  <c:v>19.04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mc:AlternateContent xmlns:mc="http://schemas.openxmlformats.org/markup-compatibility/2006">
                    <mc:Choice xmlns:c16ac="http://schemas.microsoft.com/office/drawing/2014/chart/ac" Requires="c16ac">
                      <c16ac:multiLvlStrLit>
                        <c:ptCount val="0"/>
                      </c16ac:multiLvlStrLit>
                    </mc:Choice>
                    <mc:Fallback>
                      <c:strLit/>
                    </mc:Fallback>
                  </mc:AlternateContent>
                </c15:cat>
              </c15:filteredCategoryTitle>
            </c:ext>
            <c:ext xmlns:c16="http://schemas.microsoft.com/office/drawing/2014/chart" uri="{C3380CC4-5D6E-409C-BE32-E72D297353CC}">
              <c16:uniqueId val="{00000003-AAC8-468F-8DE7-E89C0DAC6E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06584400"/>
        <c:axId val="2147054448"/>
      </c:barChart>
      <c:catAx>
        <c:axId val="21065844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47054448"/>
        <c:crosses val="autoZero"/>
        <c:auto val="1"/>
        <c:lblAlgn val="ctr"/>
        <c:lblOffset val="100"/>
        <c:noMultiLvlLbl val="0"/>
      </c:catAx>
      <c:valAx>
        <c:axId val="2147054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06584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Workstream time · seconds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Frame</c:v>
                </c:pt>
                <c:pt idx="1">
                  <c:v>Compose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7.2</c:v>
                </c:pt>
                <c:pt idx="1">
                  <c:v>10.4</c:v>
                </c:pt>
                <c:pt idx="2">
                  <c:v>5.1</c:v>
                </c:pt>
                <c:pt idx="3">
                  <c:v>2.87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3-6288-4922-B3B1-26BACE84ED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Frame</c:v>
                </c:pt>
                <c:pt idx="1">
                  <c:v>Compose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5.4</c:v>
                </c:pt>
                <c:pt idx="1">
                  <c:v>7.8</c:v>
                </c:pt>
                <c:pt idx="2">
                  <c:v>3.9</c:v>
                </c:pt>
                <c:pt idx="3">
                  <c:v>1.94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4-6288-4922-B3B1-26BACE84E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51696"/>
        <c:axId val="879952463"/>
      </c:lineChart>
      <c:catAx>
        <c:axId val="4351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79952463"/>
        <c:crosses val="autoZero"/>
        <c:auto val="1"/>
        <c:lblAlgn val="ctr"/>
        <c:lblOffset val="100"/>
        <c:noMultiLvlLbl val="0"/>
      </c:catAx>
      <c:valAx>
        <c:axId val="879952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1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2251E-1F81-4336-8E01-AC3D30384EFA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F51DC-1C0B-453A-B44C-AC78C510F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58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cover-minimal. Use one decisive headline, one short subtitle, and a compact visual thesis.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917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agenda-stair. Use only when the three items form a real sequence.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925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executive-summary. One dominant result and two supporting signals; do not turn it into a card grid.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006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statement-metric. Use one metric as evidence for one sentence, never as decoration.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204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comparison-asymmetric. Give the recommended side more visual weight.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679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delta-chart. Replace the native chart data; headline states the implication rather than the topic.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113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metrics-rhythm. Values descend in visual weight to show priority.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895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process-linear. Use for a true ordered pipeline; the arrow encodes direction.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602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architecture-three-zone. Center is the system boundary; sides are inputs and outputs.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91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evidence-matrix. Use a native table when the audience must audit multiple gates.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491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image-split. Replace the picture with a product or evidence image; never leave a generic illustration.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061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timeline-rise. Use when stages build maturity or value over time.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73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decision. Left is the rejected option; right is the recommendation and consequence.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76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quote-proof. Use only for a real customer or source statement.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655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evidence-detail. Keep detailed support on the left and one synthesis block on the right.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928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trend-chart. Use a native line chart and one highlighted implication.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397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next-steps. Three actions rise in commitment and ownership.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3984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closing. End with one consequence or next action, not a generic thank-you.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932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554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9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967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141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869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860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193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5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795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48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466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254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630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50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327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504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795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528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3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36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933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96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8921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0716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45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195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924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87633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1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42AD10-1BD6-9EDE-9794-AA46E94F3CE8}"/>
              </a:ext>
            </a:extLst>
          </p:cNvPr>
          <p:cNvSpPr txBox="1"/>
          <p:nvPr/>
        </p:nvSpPr>
        <p:spPr>
          <a:xfrm>
            <a:off x="736600" y="685800"/>
            <a:ext cx="5842000" cy="304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DC5F46"/>
                </a:solidFill>
                <a:latin typeface="Arial" panose="020B0604020202020204" pitchFamily="34" charset="0"/>
              </a:rPr>
              <a:t>EXECUTIVE STORY SYSTEM</a:t>
            </a:r>
            <a:endParaRPr lang="ko-KR" altLang="en-US" sz="1100" b="1">
              <a:solidFill>
                <a:srgbClr val="DC5F46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FA381-8D97-A797-3073-6432218FA2D9}"/>
              </a:ext>
            </a:extLst>
          </p:cNvPr>
          <p:cNvSpPr txBox="1"/>
          <p:nvPr/>
        </p:nvSpPr>
        <p:spPr>
          <a:xfrm>
            <a:off x="736600" y="1600200"/>
            <a:ext cx="7747000" cy="2260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600" b="1">
                <a:solidFill>
                  <a:srgbClr val="F7F8FA"/>
                </a:solidFill>
                <a:latin typeface="Georgia" panose="02040502050405020303" pitchFamily="18" charset="0"/>
                <a:ea typeface="Batang"/>
              </a:rPr>
              <a:t>From blank canvas to boardroom-ready</a:t>
            </a:r>
            <a:endParaRPr lang="ko-KR" altLang="en-US" sz="4600" b="1">
              <a:solidFill>
                <a:srgbClr val="F7F8FA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D18DB-390E-F54C-DB85-A6DB18EC24BF}"/>
              </a:ext>
            </a:extLst>
          </p:cNvPr>
          <p:cNvSpPr txBox="1"/>
          <p:nvPr/>
        </p:nvSpPr>
        <p:spPr>
          <a:xfrm>
            <a:off x="787400" y="4419600"/>
            <a:ext cx="7429500" cy="812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700">
                <a:solidFill>
                  <a:srgbClr val="C7CBD1"/>
                </a:solidFill>
                <a:latin typeface="Arial" panose="020B0604020202020204" pitchFamily="34" charset="0"/>
              </a:rPr>
              <a:t>A native PowerPoint library for decisions that need clarity, evidence, and pace.</a:t>
            </a:r>
            <a:endParaRPr lang="ko-KR" altLang="en-US" sz="17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645E88-A981-81C9-47F5-B33099076031}"/>
              </a:ext>
            </a:extLst>
          </p:cNvPr>
          <p:cNvSpPr/>
          <p:nvPr/>
        </p:nvSpPr>
        <p:spPr>
          <a:xfrm>
            <a:off x="9499600" y="838200"/>
            <a:ext cx="1955800" cy="4699000"/>
          </a:xfrm>
          <a:prstGeom prst="rect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C6728-0533-08A2-E529-DD773C60F612}"/>
              </a:ext>
            </a:extLst>
          </p:cNvPr>
          <p:cNvSpPr txBox="1"/>
          <p:nvPr/>
        </p:nvSpPr>
        <p:spPr>
          <a:xfrm>
            <a:off x="9779000" y="1320800"/>
            <a:ext cx="1397000" cy="3175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FFFFFF"/>
                </a:solidFill>
                <a:latin typeface="Georgia" panose="02040502050405020303" pitchFamily="18" charset="0"/>
                <a:ea typeface="Batang"/>
              </a:rPr>
              <a:t>18</a:t>
            </a:r>
            <a:endParaRPr lang="ko-KR" altLang="en-US" sz="3000" b="1">
              <a:solidFill>
                <a:srgbClr val="FFFFF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50946-0F6D-0A7C-9AAE-D43490769BA0}"/>
              </a:ext>
            </a:extLst>
          </p:cNvPr>
          <p:cNvSpPr txBox="1"/>
          <p:nvPr/>
        </p:nvSpPr>
        <p:spPr>
          <a:xfrm>
            <a:off x="787400" y="6096000"/>
            <a:ext cx="7747000" cy="304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>
                <a:solidFill>
                  <a:srgbClr val="8F969E"/>
                </a:solidFill>
                <a:latin typeface="Arial" panose="020B0604020202020204" pitchFamily="34" charset="0"/>
              </a:rPr>
              <a:t>Native archetypes · Editable assets · Render-reviewed</a:t>
            </a:r>
            <a:endParaRPr lang="ko-KR" altLang="en-US" sz="1000">
              <a:solidFill>
                <a:srgbClr val="8F96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69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7C6D5-C9EE-5209-A0DA-BDA869E100C1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OPERATING MODEL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5DF42-9CDE-3724-5C4B-A2FD4AB5A266}"/>
              </a:ext>
            </a:extLst>
          </p:cNvPr>
          <p:cNvSpPr txBox="1"/>
          <p:nvPr/>
        </p:nvSpPr>
        <p:spPr>
          <a:xfrm>
            <a:off x="736600" y="1041400"/>
            <a:ext cx="9906000" cy="838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One brief. Three disciplined passes.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9554F-F878-544D-45D4-78A75EBA8D0E}"/>
              </a:ext>
            </a:extLst>
          </p:cNvPr>
          <p:cNvSpPr txBox="1"/>
          <p:nvPr/>
        </p:nvSpPr>
        <p:spPr>
          <a:xfrm>
            <a:off x="736600" y="2565400"/>
            <a:ext cx="914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C7422F"/>
                </a:solidFill>
                <a:latin typeface="Georgia" panose="02040502050405020303" pitchFamily="18" charset="0"/>
                <a:ea typeface="Batang"/>
              </a:rPr>
              <a:t>01</a:t>
            </a:r>
            <a:endParaRPr lang="ko-KR" altLang="en-US" sz="3000" b="1">
              <a:solidFill>
                <a:srgbClr val="C7422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9C9DB-D47F-C0BA-273F-BEEE4D60E2BF}"/>
              </a:ext>
            </a:extLst>
          </p:cNvPr>
          <p:cNvSpPr txBox="1"/>
          <p:nvPr/>
        </p:nvSpPr>
        <p:spPr>
          <a:xfrm>
            <a:off x="1879600" y="2590800"/>
            <a:ext cx="2794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b="1">
                <a:solidFill>
                  <a:srgbClr val="171A1F"/>
                </a:solidFill>
                <a:latin typeface="Arial" panose="020B0604020202020204" pitchFamily="34" charset="0"/>
              </a:rPr>
              <a:t>Frame the decision</a:t>
            </a:r>
            <a:endParaRPr lang="ko-KR" altLang="en-US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B5712-A217-E0CC-2895-6C6499C112EB}"/>
              </a:ext>
            </a:extLst>
          </p:cNvPr>
          <p:cNvSpPr txBox="1"/>
          <p:nvPr/>
        </p:nvSpPr>
        <p:spPr>
          <a:xfrm>
            <a:off x="4826000" y="3454400"/>
            <a:ext cx="914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254E70"/>
                </a:solidFill>
                <a:latin typeface="Georgia" panose="02040502050405020303" pitchFamily="18" charset="0"/>
                <a:ea typeface="Batang"/>
              </a:rPr>
              <a:t>02</a:t>
            </a:r>
            <a:endParaRPr lang="ko-KR" altLang="en-US" sz="3000" b="1">
              <a:solidFill>
                <a:srgbClr val="254E70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9DC77-8B1C-B3F7-A597-7FCCAD747B1B}"/>
              </a:ext>
            </a:extLst>
          </p:cNvPr>
          <p:cNvSpPr txBox="1"/>
          <p:nvPr/>
        </p:nvSpPr>
        <p:spPr>
          <a:xfrm>
            <a:off x="5969000" y="3479800"/>
            <a:ext cx="2794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b="1">
                <a:solidFill>
                  <a:srgbClr val="171A1F"/>
                </a:solidFill>
                <a:latin typeface="Arial" panose="020B0604020202020204" pitchFamily="34" charset="0"/>
              </a:rPr>
              <a:t>Select the evidence</a:t>
            </a:r>
            <a:endParaRPr lang="ko-KR" altLang="en-US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78371-F0DC-54F0-BC2E-DD212F82AD6B}"/>
              </a:ext>
            </a:extLst>
          </p:cNvPr>
          <p:cNvSpPr txBox="1"/>
          <p:nvPr/>
        </p:nvSpPr>
        <p:spPr>
          <a:xfrm>
            <a:off x="8255000" y="4445000"/>
            <a:ext cx="914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6B7D6A"/>
                </a:solidFill>
                <a:latin typeface="Georgia" panose="02040502050405020303" pitchFamily="18" charset="0"/>
                <a:ea typeface="Batang"/>
              </a:rPr>
              <a:t>03</a:t>
            </a:r>
            <a:endParaRPr lang="ko-KR" altLang="en-US" sz="3000" b="1">
              <a:solidFill>
                <a:srgbClr val="6B7D6A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3EE90-868A-3FA0-4D95-BC125C34EE51}"/>
              </a:ext>
            </a:extLst>
          </p:cNvPr>
          <p:cNvSpPr txBox="1"/>
          <p:nvPr/>
        </p:nvSpPr>
        <p:spPr>
          <a:xfrm>
            <a:off x="9398000" y="44704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b="1">
                <a:solidFill>
                  <a:srgbClr val="171A1F"/>
                </a:solidFill>
                <a:latin typeface="Arial" panose="020B0604020202020204" pitchFamily="34" charset="0"/>
              </a:rPr>
              <a:t>Polish the signal</a:t>
            </a:r>
            <a:endParaRPr lang="ko-KR" altLang="en-US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BD31E-7448-5C92-AE2E-4505AAF41D46}"/>
              </a:ext>
            </a:extLst>
          </p:cNvPr>
          <p:cNvSpPr txBox="1"/>
          <p:nvPr/>
        </p:nvSpPr>
        <p:spPr>
          <a:xfrm>
            <a:off x="736600" y="5740400"/>
            <a:ext cx="7874000" cy="482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Content leads. The layout adapts, then every slide earns its place.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60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6D2810-67AB-3D85-28BC-A414B5F902DA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PERFORMANCE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22C27-CB05-677C-2A5A-3944D4335FEB}"/>
              </a:ext>
            </a:extLst>
          </p:cNvPr>
          <p:cNvSpPr txBox="1"/>
          <p:nvPr/>
        </p:nvSpPr>
        <p:spPr>
          <a:xfrm>
            <a:off x="736600" y="1041400"/>
            <a:ext cx="10033000" cy="990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Less orchestration. More finished work.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A6101A-E9C8-1B89-2270-32723FCB3A81}"/>
              </a:ext>
            </a:extLst>
          </p:cNvPr>
          <p:cNvSpPr/>
          <p:nvPr/>
        </p:nvSpPr>
        <p:spPr>
          <a:xfrm>
            <a:off x="736600" y="2565400"/>
            <a:ext cx="4038600" cy="30226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97747-E0CB-1618-E6CC-ABD00535814F}"/>
              </a:ext>
            </a:extLst>
          </p:cNvPr>
          <p:cNvSpPr txBox="1"/>
          <p:nvPr/>
        </p:nvSpPr>
        <p:spPr>
          <a:xfrm>
            <a:off x="1041400" y="3022600"/>
            <a:ext cx="3302000" cy="1168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5600" b="1">
                <a:solidFill>
                  <a:srgbClr val="FFFFFF"/>
                </a:solidFill>
                <a:latin typeface="Georgia" panose="02040502050405020303" pitchFamily="18" charset="0"/>
                <a:ea typeface="Batang"/>
              </a:rPr>
              <a:t>1 call</a:t>
            </a:r>
            <a:endParaRPr lang="ko-KR" altLang="en-US" sz="5600" b="1">
              <a:solidFill>
                <a:srgbClr val="FFFFF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49C8E-4256-58AD-1A79-B25D8F5B13CE}"/>
              </a:ext>
            </a:extLst>
          </p:cNvPr>
          <p:cNvSpPr txBox="1"/>
          <p:nvPr/>
        </p:nvSpPr>
        <p:spPr>
          <a:xfrm>
            <a:off x="1092200" y="4318000"/>
            <a:ext cx="3048000" cy="508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D8583F"/>
                </a:solidFill>
                <a:latin typeface="Arial" panose="020B0604020202020204" pitchFamily="34" charset="0"/>
              </a:rPr>
              <a:t>END-TO-END</a:t>
            </a:r>
            <a:endParaRPr lang="ko-KR" altLang="en-US" sz="1400" b="1">
              <a:solidFill>
                <a:srgbClr val="D8583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A89DB-A21B-D362-C5EE-DC065865A749}"/>
              </a:ext>
            </a:extLst>
          </p:cNvPr>
          <p:cNvSpPr txBox="1"/>
          <p:nvPr/>
        </p:nvSpPr>
        <p:spPr>
          <a:xfrm>
            <a:off x="1092200" y="4927600"/>
            <a:ext cx="31115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C7CBD1"/>
                </a:solidFill>
                <a:latin typeface="Arial" panose="020B0604020202020204" pitchFamily="34" charset="0"/>
              </a:rPr>
              <a:t>Create · edit · review · save</a:t>
            </a:r>
            <a:endParaRPr lang="ko-KR" altLang="en-US" sz="11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012034-A6F8-B9F4-3B7F-B2951A441C84}"/>
              </a:ext>
            </a:extLst>
          </p:cNvPr>
          <p:cNvSpPr txBox="1"/>
          <p:nvPr/>
        </p:nvSpPr>
        <p:spPr>
          <a:xfrm>
            <a:off x="5740400" y="2743200"/>
            <a:ext cx="2159000" cy="812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254E70"/>
                </a:solidFill>
                <a:latin typeface="Georgia" panose="02040502050405020303" pitchFamily="18" charset="0"/>
                <a:ea typeface="Batang"/>
              </a:rPr>
              <a:t>−86%</a:t>
            </a:r>
            <a:endParaRPr lang="ko-KR" altLang="en-US" sz="3800" b="1">
              <a:solidFill>
                <a:srgbClr val="254E70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DD128-BC52-29AA-95CB-0D747BC719F5}"/>
              </a:ext>
            </a:extLst>
          </p:cNvPr>
          <p:cNvSpPr txBox="1"/>
          <p:nvPr/>
        </p:nvSpPr>
        <p:spPr>
          <a:xfrm>
            <a:off x="5740400" y="3632200"/>
            <a:ext cx="3810000" cy="381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TOOL CALLS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AC6EFB-DDAF-0F22-D59D-8BF4F86EC1C2}"/>
              </a:ext>
            </a:extLst>
          </p:cNvPr>
          <p:cNvSpPr txBox="1"/>
          <p:nvPr/>
        </p:nvSpPr>
        <p:spPr>
          <a:xfrm>
            <a:off x="8255000" y="4368800"/>
            <a:ext cx="2159000" cy="812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6B7D6A"/>
                </a:solidFill>
                <a:latin typeface="Georgia" panose="02040502050405020303" pitchFamily="18" charset="0"/>
                <a:ea typeface="Batang"/>
              </a:rPr>
              <a:t>100%</a:t>
            </a:r>
            <a:endParaRPr lang="ko-KR" altLang="en-US" sz="3800" b="1">
              <a:solidFill>
                <a:srgbClr val="6B7D6A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31498-2A85-D3AE-FA51-C164ED01AF4E}"/>
              </a:ext>
            </a:extLst>
          </p:cNvPr>
          <p:cNvSpPr txBox="1"/>
          <p:nvPr/>
        </p:nvSpPr>
        <p:spPr>
          <a:xfrm>
            <a:off x="8255000" y="5257800"/>
            <a:ext cx="3175000" cy="381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ACCURACY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65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71033D-CA59-B674-445D-A198204B11CE}"/>
              </a:ext>
            </a:extLst>
          </p:cNvPr>
          <p:cNvSpPr txBox="1"/>
          <p:nvPr/>
        </p:nvSpPr>
        <p:spPr>
          <a:xfrm>
            <a:off x="736600" y="609600"/>
            <a:ext cx="5080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DC5F46"/>
                </a:solidFill>
                <a:latin typeface="Arial" panose="020B0604020202020204" pitchFamily="34" charset="0"/>
              </a:rPr>
              <a:t>NATIVE BY DEFAULT</a:t>
            </a:r>
            <a:endParaRPr lang="ko-KR" altLang="en-US" sz="1000" b="1">
              <a:solidFill>
                <a:srgbClr val="DC5F46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D05A0-4301-475C-F0EE-23B7BB481FDD}"/>
              </a:ext>
            </a:extLst>
          </p:cNvPr>
          <p:cNvSpPr txBox="1"/>
          <p:nvPr/>
        </p:nvSpPr>
        <p:spPr>
          <a:xfrm>
            <a:off x="736600" y="1270000"/>
            <a:ext cx="6604000" cy="1803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000" b="1">
                <a:solidFill>
                  <a:srgbClr val="F7F8FA"/>
                </a:solidFill>
                <a:latin typeface="Georgia" panose="02040502050405020303" pitchFamily="18" charset="0"/>
                <a:ea typeface="Batang"/>
              </a:rPr>
              <a:t>The result stays editable where teams already work.</a:t>
            </a:r>
            <a:endParaRPr lang="ko-KR" altLang="en-US" sz="4000" b="1">
              <a:solidFill>
                <a:srgbClr val="F7F8FA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AECA1-32CC-87F0-B1D6-8F339F9FF9D7}"/>
              </a:ext>
            </a:extLst>
          </p:cNvPr>
          <p:cNvSpPr txBox="1"/>
          <p:nvPr/>
        </p:nvSpPr>
        <p:spPr>
          <a:xfrm>
            <a:off x="787400" y="3606800"/>
            <a:ext cx="6350000" cy="939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C7CBD1"/>
                </a:solidFill>
                <a:latin typeface="Arial" panose="020B0604020202020204" pitchFamily="34" charset="0"/>
              </a:rPr>
              <a:t>Masters, charts, tables, notes, and media remain first-class PowerPoint objects.</a:t>
            </a:r>
            <a:endParaRPr lang="ko-KR" altLang="en-US" sz="16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50476-9D5E-7D02-BC6F-512AC9895160}"/>
              </a:ext>
            </a:extLst>
          </p:cNvPr>
          <p:cNvSpPr txBox="1"/>
          <p:nvPr/>
        </p:nvSpPr>
        <p:spPr>
          <a:xfrm>
            <a:off x="8255000" y="1676400"/>
            <a:ext cx="3175000" cy="1752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8200" b="1">
                <a:solidFill>
                  <a:srgbClr val="DC5F46"/>
                </a:solidFill>
                <a:latin typeface="Georgia" panose="02040502050405020303" pitchFamily="18" charset="0"/>
                <a:ea typeface="Batang"/>
              </a:rPr>
              <a:t>18</a:t>
            </a:r>
            <a:endParaRPr lang="ko-KR" altLang="en-US" sz="8200" b="1">
              <a:solidFill>
                <a:srgbClr val="DC5F46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9B91C-C4AE-327E-3139-E91F487B64B8}"/>
              </a:ext>
            </a:extLst>
          </p:cNvPr>
          <p:cNvSpPr txBox="1"/>
          <p:nvPr/>
        </p:nvSpPr>
        <p:spPr>
          <a:xfrm>
            <a:off x="8356600" y="3708400"/>
            <a:ext cx="3048000" cy="533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300" b="1">
                <a:solidFill>
                  <a:srgbClr val="F7F8FA"/>
                </a:solidFill>
                <a:latin typeface="Arial" panose="020B0604020202020204" pitchFamily="34" charset="0"/>
              </a:rPr>
              <a:t>APPROVED ARCHETYPES</a:t>
            </a:r>
            <a:endParaRPr lang="ko-KR" altLang="en-US" sz="1300" b="1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0A334-7BA1-FC99-50F8-CDF2B017A2EF}"/>
              </a:ext>
            </a:extLst>
          </p:cNvPr>
          <p:cNvSpPr txBox="1"/>
          <p:nvPr/>
        </p:nvSpPr>
        <p:spPr>
          <a:xfrm>
            <a:off x="8255000" y="4521200"/>
            <a:ext cx="3149600" cy="736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8F969E"/>
                </a:solidFill>
                <a:latin typeface="Arial" panose="020B0604020202020204" pitchFamily="34" charset="0"/>
              </a:rPr>
              <a:t>One coherent visual language</a:t>
            </a:r>
            <a:endParaRPr lang="ko-KR" altLang="en-US" sz="1100">
              <a:solidFill>
                <a:srgbClr val="8F96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962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9EA9CB-BF81-B6C8-B16A-AF8722308BB3}"/>
              </a:ext>
            </a:extLst>
          </p:cNvPr>
          <p:cNvSpPr txBox="1"/>
          <p:nvPr/>
        </p:nvSpPr>
        <p:spPr>
          <a:xfrm>
            <a:off x="736600" y="609600"/>
            <a:ext cx="10414000" cy="914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Two paths. One obvious choice.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57428A-3F3C-A77D-5731-104C0B8D5796}"/>
              </a:ext>
            </a:extLst>
          </p:cNvPr>
          <p:cNvSpPr/>
          <p:nvPr/>
        </p:nvSpPr>
        <p:spPr>
          <a:xfrm>
            <a:off x="736600" y="2006600"/>
            <a:ext cx="4953000" cy="3835400"/>
          </a:xfrm>
          <a:prstGeom prst="rect">
            <a:avLst/>
          </a:prstGeom>
          <a:solidFill>
            <a:srgbClr val="E9EDF0"/>
          </a:solidFill>
          <a:ln>
            <a:solidFill>
              <a:srgbClr val="E9ED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AB327-4157-CBEE-3649-868AA6652429}"/>
              </a:ext>
            </a:extLst>
          </p:cNvPr>
          <p:cNvSpPr txBox="1"/>
          <p:nvPr/>
        </p:nvSpPr>
        <p:spPr>
          <a:xfrm>
            <a:off x="1092200" y="2413000"/>
            <a:ext cx="4064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4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Before</a:t>
            </a:r>
            <a:endParaRPr lang="ko-KR" altLang="en-US" sz="24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698B4-5D2E-1719-80E3-253C7469D6D0}"/>
              </a:ext>
            </a:extLst>
          </p:cNvPr>
          <p:cNvSpPr txBox="1"/>
          <p:nvPr/>
        </p:nvSpPr>
        <p:spPr>
          <a:xfrm>
            <a:off x="1092200" y="3352800"/>
            <a:ext cx="4038600" cy="1955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525A63"/>
                </a:solidFill>
                <a:latin typeface="Arial" panose="020B0604020202020204" pitchFamily="34" charset="0"/>
              </a:rPr>
              <a:t>Blank canvas · Manual coordinates · Repeated cleanup</a:t>
            </a:r>
            <a:endParaRPr lang="ko-KR" altLang="en-US" sz="14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17EA80-81D5-2392-8CA0-B0F801737A06}"/>
              </a:ext>
            </a:extLst>
          </p:cNvPr>
          <p:cNvSpPr/>
          <p:nvPr/>
        </p:nvSpPr>
        <p:spPr>
          <a:xfrm>
            <a:off x="6172200" y="1651000"/>
            <a:ext cx="5257800" cy="41910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E398E-576E-53DB-9057-F188BE87257B}"/>
              </a:ext>
            </a:extLst>
          </p:cNvPr>
          <p:cNvSpPr txBox="1"/>
          <p:nvPr/>
        </p:nvSpPr>
        <p:spPr>
          <a:xfrm>
            <a:off x="6578600" y="2159000"/>
            <a:ext cx="4216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FFFFFF"/>
                </a:solidFill>
                <a:latin typeface="Georgia" panose="02040502050405020303" pitchFamily="18" charset="0"/>
                <a:ea typeface="Batang"/>
              </a:rPr>
              <a:t>Now</a:t>
            </a:r>
            <a:endParaRPr lang="ko-KR" altLang="en-US" sz="2600" b="1">
              <a:solidFill>
                <a:srgbClr val="FFFFF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9AB6E-A8B1-EA63-5DA3-1C491925A4DA}"/>
              </a:ext>
            </a:extLst>
          </p:cNvPr>
          <p:cNvSpPr txBox="1"/>
          <p:nvPr/>
        </p:nvSpPr>
        <p:spPr>
          <a:xfrm>
            <a:off x="6578600" y="3200400"/>
            <a:ext cx="4216400" cy="2032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C7CBD1"/>
                </a:solidFill>
                <a:latin typeface="Arial" panose="020B0604020202020204" pitchFamily="34" charset="0"/>
              </a:rPr>
              <a:t>Native samples · Semantic slots · Render-led polish</a:t>
            </a:r>
            <a:endParaRPr lang="ko-KR" altLang="en-US" sz="14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56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1D99B8-962C-115B-D27C-27F3DA6AF247}"/>
              </a:ext>
            </a:extLst>
          </p:cNvPr>
          <p:cNvSpPr txBox="1"/>
          <p:nvPr/>
        </p:nvSpPr>
        <p:spPr>
          <a:xfrm>
            <a:off x="736600" y="584200"/>
            <a:ext cx="10414000" cy="863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Decision velocity improves when the system does the busywork.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92ECC7-F43A-E077-9899-12DEA2C417B0}"/>
              </a:ext>
            </a:extLst>
          </p:cNvPr>
          <p:cNvSpPr txBox="1"/>
          <p:nvPr/>
        </p:nvSpPr>
        <p:spPr>
          <a:xfrm>
            <a:off x="736600" y="2159000"/>
            <a:ext cx="9652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Illustrative cycle time across a standard executive update.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EAA212-9513-7BB9-68AB-0BEE69FF1111}"/>
              </a:ext>
            </a:extLst>
          </p:cNvPr>
          <p:cNvSpPr txBox="1"/>
          <p:nvPr/>
        </p:nvSpPr>
        <p:spPr>
          <a:xfrm>
            <a:off x="8559800" y="2717800"/>
            <a:ext cx="2794000" cy="152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C7422F"/>
                </a:solidFill>
                <a:latin typeface="Georgia" panose="02040502050405020303" pitchFamily="18" charset="0"/>
                <a:ea typeface="Batang"/>
              </a:rPr>
              <a:t>TIME TO DECISION</a:t>
            </a:r>
            <a:endParaRPr lang="ko-KR" altLang="en-US" sz="3400" b="1">
              <a:solidFill>
                <a:srgbClr val="C7422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1301C-0423-3560-F758-3E466BED875E}"/>
              </a:ext>
            </a:extLst>
          </p:cNvPr>
          <p:cNvSpPr txBox="1"/>
          <p:nvPr/>
        </p:nvSpPr>
        <p:spPr>
          <a:xfrm>
            <a:off x="8559800" y="4521200"/>
            <a:ext cx="2717800" cy="965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525A63"/>
                </a:solidFill>
                <a:latin typeface="Arial" panose="020B0604020202020204" pitchFamily="34" charset="0"/>
              </a:rPr>
              <a:t>25% faster</a:t>
            </a:r>
            <a:endParaRPr lang="ko-KR" altLang="en-US" sz="13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8FEC54F3-EE40-E1CD-EDA3-0A757E8B2F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0722492"/>
              </p:ext>
            </p:extLst>
          </p:nvPr>
        </p:nvGraphicFramePr>
        <p:xfrm>
          <a:off x="736600" y="2311400"/>
          <a:ext cx="7112000" cy="360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8242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018A5-EBFE-6C49-5AEB-50BD10E5EC4F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QUALITY SIGNAL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18AAA-8847-F6CB-C062-E071BE47BB81}"/>
              </a:ext>
            </a:extLst>
          </p:cNvPr>
          <p:cNvSpPr txBox="1"/>
          <p:nvPr/>
        </p:nvSpPr>
        <p:spPr>
          <a:xfrm>
            <a:off x="736600" y="1041400"/>
            <a:ext cx="10160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A complete story, not a collection of decorated pages.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360A3-F7A7-6DD7-0D14-FF18B43CD789}"/>
              </a:ext>
            </a:extLst>
          </p:cNvPr>
          <p:cNvSpPr txBox="1"/>
          <p:nvPr/>
        </p:nvSpPr>
        <p:spPr>
          <a:xfrm>
            <a:off x="736600" y="2616200"/>
            <a:ext cx="3429000" cy="1168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5400" b="1">
                <a:solidFill>
                  <a:srgbClr val="C7422F"/>
                </a:solidFill>
                <a:latin typeface="Georgia" panose="02040502050405020303" pitchFamily="18" charset="0"/>
                <a:ea typeface="Batang"/>
              </a:rPr>
              <a:t>18</a:t>
            </a:r>
            <a:endParaRPr lang="ko-KR" altLang="en-US" sz="5400" b="1">
              <a:solidFill>
                <a:srgbClr val="C7422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D01D4-CBA1-86A8-79E7-859B46E52855}"/>
              </a:ext>
            </a:extLst>
          </p:cNvPr>
          <p:cNvSpPr txBox="1"/>
          <p:nvPr/>
        </p:nvSpPr>
        <p:spPr>
          <a:xfrm>
            <a:off x="787400" y="3937000"/>
            <a:ext cx="3175000" cy="406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LAYOUTS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A6CEA-1597-C86B-29CD-44BC9A765BCE}"/>
              </a:ext>
            </a:extLst>
          </p:cNvPr>
          <p:cNvSpPr txBox="1"/>
          <p:nvPr/>
        </p:nvSpPr>
        <p:spPr>
          <a:xfrm>
            <a:off x="4724400" y="3124200"/>
            <a:ext cx="2921000" cy="965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200" b="1">
                <a:solidFill>
                  <a:srgbClr val="254E70"/>
                </a:solidFill>
                <a:latin typeface="Georgia" panose="02040502050405020303" pitchFamily="18" charset="0"/>
                <a:ea typeface="Batang"/>
              </a:rPr>
              <a:t>5</a:t>
            </a:r>
            <a:endParaRPr lang="ko-KR" altLang="en-US" sz="4200" b="1">
              <a:solidFill>
                <a:srgbClr val="254E70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11851-2326-0C51-B10D-6D1F2E94EF8E}"/>
              </a:ext>
            </a:extLst>
          </p:cNvPr>
          <p:cNvSpPr txBox="1"/>
          <p:nvPr/>
        </p:nvSpPr>
        <p:spPr>
          <a:xfrm>
            <a:off x="4775200" y="4216400"/>
            <a:ext cx="2794000" cy="406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REVIEW AXES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68131-1C54-1177-50DF-3B85437989ED}"/>
              </a:ext>
            </a:extLst>
          </p:cNvPr>
          <p:cNvSpPr txBox="1"/>
          <p:nvPr/>
        </p:nvSpPr>
        <p:spPr>
          <a:xfrm>
            <a:off x="8305800" y="3632200"/>
            <a:ext cx="279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6B7D6A"/>
                </a:solidFill>
                <a:latin typeface="Georgia" panose="02040502050405020303" pitchFamily="18" charset="0"/>
                <a:ea typeface="Batang"/>
              </a:rPr>
              <a:t>0</a:t>
            </a:r>
            <a:endParaRPr lang="ko-KR" altLang="en-US" sz="3800" b="1">
              <a:solidFill>
                <a:srgbClr val="6B7D6A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4153E-B742-1E3B-D4BD-C4ECBEBB32DD}"/>
              </a:ext>
            </a:extLst>
          </p:cNvPr>
          <p:cNvSpPr txBox="1"/>
          <p:nvPr/>
        </p:nvSpPr>
        <p:spPr>
          <a:xfrm>
            <a:off x="8356600" y="4648200"/>
            <a:ext cx="2667000" cy="406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SILENT FALLBACKS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083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5C40B5-B4BD-4889-A59E-5B8C460A8591}"/>
              </a:ext>
            </a:extLst>
          </p:cNvPr>
          <p:cNvSpPr txBox="1"/>
          <p:nvPr/>
        </p:nvSpPr>
        <p:spPr>
          <a:xfrm>
            <a:off x="736600" y="609600"/>
            <a:ext cx="10414000" cy="863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A roadmap that compounds instead of resets.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90F2760B-A6AF-8707-32E8-7B289349EC60}"/>
              </a:ext>
            </a:extLst>
          </p:cNvPr>
          <p:cNvSpPr/>
          <p:nvPr/>
        </p:nvSpPr>
        <p:spPr>
          <a:xfrm>
            <a:off x="1143000" y="2717800"/>
            <a:ext cx="9525000" cy="939800"/>
          </a:xfrm>
          <a:prstGeom prst="rightArrow">
            <a:avLst/>
          </a:prstGeom>
          <a:solidFill>
            <a:srgbClr val="E1E5E9"/>
          </a:solidFill>
          <a:ln>
            <a:solidFill>
              <a:srgbClr val="E1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66E16-A513-1498-101A-53C6DE46D167}"/>
              </a:ext>
            </a:extLst>
          </p:cNvPr>
          <p:cNvSpPr txBox="1"/>
          <p:nvPr/>
        </p:nvSpPr>
        <p:spPr>
          <a:xfrm>
            <a:off x="9652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C7422F"/>
                </a:solidFill>
                <a:latin typeface="Georgia" panose="02040502050405020303" pitchFamily="18" charset="0"/>
                <a:ea typeface="Batang"/>
              </a:rPr>
              <a:t>01</a:t>
            </a:r>
            <a:endParaRPr lang="ko-KR" altLang="en-US" sz="2200" b="1">
              <a:solidFill>
                <a:srgbClr val="C7422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EA9EB-DC03-E7EF-3B9B-142E7D540AE6}"/>
              </a:ext>
            </a:extLst>
          </p:cNvPr>
          <p:cNvSpPr txBox="1"/>
          <p:nvPr/>
        </p:nvSpPr>
        <p:spPr>
          <a:xfrm>
            <a:off x="965200" y="3937000"/>
            <a:ext cx="2032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Brief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D65B2-8C25-A3E8-997A-394ABA177C95}"/>
              </a:ext>
            </a:extLst>
          </p:cNvPr>
          <p:cNvSpPr txBox="1"/>
          <p:nvPr/>
        </p:nvSpPr>
        <p:spPr>
          <a:xfrm>
            <a:off x="33274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254E70"/>
                </a:solidFill>
                <a:latin typeface="Georgia" panose="02040502050405020303" pitchFamily="18" charset="0"/>
                <a:ea typeface="Batang"/>
              </a:rPr>
              <a:t>02</a:t>
            </a:r>
            <a:endParaRPr lang="ko-KR" altLang="en-US" sz="2200" b="1">
              <a:solidFill>
                <a:srgbClr val="254E70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3227C-53A0-E519-A6E8-45D0BB745418}"/>
              </a:ext>
            </a:extLst>
          </p:cNvPr>
          <p:cNvSpPr txBox="1"/>
          <p:nvPr/>
        </p:nvSpPr>
        <p:spPr>
          <a:xfrm>
            <a:off x="3327400" y="3937000"/>
            <a:ext cx="2032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Select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D735F-F7C1-5B55-EEA3-4DE92912F8B0}"/>
              </a:ext>
            </a:extLst>
          </p:cNvPr>
          <p:cNvSpPr txBox="1"/>
          <p:nvPr/>
        </p:nvSpPr>
        <p:spPr>
          <a:xfrm>
            <a:off x="56896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6B7D6A"/>
                </a:solidFill>
                <a:latin typeface="Georgia" panose="02040502050405020303" pitchFamily="18" charset="0"/>
                <a:ea typeface="Batang"/>
              </a:rPr>
              <a:t>03</a:t>
            </a:r>
            <a:endParaRPr lang="ko-KR" altLang="en-US" sz="2200" b="1">
              <a:solidFill>
                <a:srgbClr val="6B7D6A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8B1F5-1F08-8862-687D-63812194C847}"/>
              </a:ext>
            </a:extLst>
          </p:cNvPr>
          <p:cNvSpPr txBox="1"/>
          <p:nvPr/>
        </p:nvSpPr>
        <p:spPr>
          <a:xfrm>
            <a:off x="5689600" y="3937000"/>
            <a:ext cx="2032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Compose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3B762E-7243-80A7-0A6B-1F549706796F}"/>
              </a:ext>
            </a:extLst>
          </p:cNvPr>
          <p:cNvSpPr txBox="1"/>
          <p:nvPr/>
        </p:nvSpPr>
        <p:spPr>
          <a:xfrm>
            <a:off x="80518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04</a:t>
            </a:r>
            <a:endParaRPr lang="ko-KR" altLang="en-US" sz="22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68B92-ABCD-185D-543A-32B1DFF126BB}"/>
              </a:ext>
            </a:extLst>
          </p:cNvPr>
          <p:cNvSpPr txBox="1"/>
          <p:nvPr/>
        </p:nvSpPr>
        <p:spPr>
          <a:xfrm>
            <a:off x="8051800" y="3937000"/>
            <a:ext cx="2413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Review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102F3D-7106-3113-B6E6-C253F3AE0F7E}"/>
              </a:ext>
            </a:extLst>
          </p:cNvPr>
          <p:cNvSpPr txBox="1"/>
          <p:nvPr/>
        </p:nvSpPr>
        <p:spPr>
          <a:xfrm>
            <a:off x="736600" y="5384800"/>
            <a:ext cx="9652000" cy="482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Each stage records intent so the next pass starts with context—not guesswork.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73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618F05-BA49-F12A-E313-60EE231598F0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Template-first changes the economics of quality.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60AE1A-33E6-E2D5-014A-DD2D9378F87D}"/>
              </a:ext>
            </a:extLst>
          </p:cNvPr>
          <p:cNvSpPr/>
          <p:nvPr/>
        </p:nvSpPr>
        <p:spPr>
          <a:xfrm>
            <a:off x="736600" y="2184400"/>
            <a:ext cx="2870200" cy="3352800"/>
          </a:xfrm>
          <a:prstGeom prst="rect">
            <a:avLst/>
          </a:prstGeom>
          <a:solidFill>
            <a:srgbClr val="E9EDF0"/>
          </a:solidFill>
          <a:ln>
            <a:solidFill>
              <a:srgbClr val="E9ED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9A5B2-9803-A24B-FFCF-AC96291A99A8}"/>
              </a:ext>
            </a:extLst>
          </p:cNvPr>
          <p:cNvSpPr txBox="1"/>
          <p:nvPr/>
        </p:nvSpPr>
        <p:spPr>
          <a:xfrm>
            <a:off x="1041400" y="2565400"/>
            <a:ext cx="22352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Scratch generation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BF31E-DF04-EDDB-6978-188AE886407E}"/>
              </a:ext>
            </a:extLst>
          </p:cNvPr>
          <p:cNvSpPr txBox="1"/>
          <p:nvPr/>
        </p:nvSpPr>
        <p:spPr>
          <a:xfrm>
            <a:off x="1041400" y="3479800"/>
            <a:ext cx="2235200" cy="154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525A63"/>
                </a:solidFill>
                <a:latin typeface="Arial" panose="020B0604020202020204" pitchFamily="34" charset="0"/>
              </a:rPr>
              <a:t>Fast to start · Expensive to refine · Style drifts by slide</a:t>
            </a:r>
            <a:endParaRPr lang="ko-KR" altLang="en-US" sz="12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F50678-C038-3F10-39C6-5E33D47498AA}"/>
              </a:ext>
            </a:extLst>
          </p:cNvPr>
          <p:cNvSpPr/>
          <p:nvPr/>
        </p:nvSpPr>
        <p:spPr>
          <a:xfrm>
            <a:off x="4394200" y="1854200"/>
            <a:ext cx="3403600" cy="40132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383E0-3CD8-E63E-125E-6FF5BA031A06}"/>
              </a:ext>
            </a:extLst>
          </p:cNvPr>
          <p:cNvSpPr txBox="1"/>
          <p:nvPr/>
        </p:nvSpPr>
        <p:spPr>
          <a:xfrm>
            <a:off x="4800600" y="2717800"/>
            <a:ext cx="2590800" cy="1320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ko-KR" sz="3000" b="1">
                <a:solidFill>
                  <a:srgbClr val="FFFFFF"/>
                </a:solidFill>
                <a:latin typeface="Georgia" panose="02040502050405020303" pitchFamily="18" charset="0"/>
                <a:ea typeface="Batang"/>
              </a:rPr>
              <a:t>VS</a:t>
            </a:r>
            <a:endParaRPr lang="ko-KR" altLang="en-US" sz="3000" b="1">
              <a:solidFill>
                <a:srgbClr val="FFFFF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6886DE-84E3-2CD9-43B8-2E1A6FBAED97}"/>
              </a:ext>
            </a:extLst>
          </p:cNvPr>
          <p:cNvSpPr/>
          <p:nvPr/>
        </p:nvSpPr>
        <p:spPr>
          <a:xfrm>
            <a:off x="8585200" y="2184400"/>
            <a:ext cx="2870200" cy="3352800"/>
          </a:xfrm>
          <a:prstGeom prst="rect">
            <a:avLst/>
          </a:prstGeom>
          <a:solidFill>
            <a:srgbClr val="DDE5EA"/>
          </a:solidFill>
          <a:ln>
            <a:solidFill>
              <a:srgbClr val="DD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C5F73-29D7-820F-FB28-C2E1961C4F8B}"/>
              </a:ext>
            </a:extLst>
          </p:cNvPr>
          <p:cNvSpPr txBox="1"/>
          <p:nvPr/>
        </p:nvSpPr>
        <p:spPr>
          <a:xfrm>
            <a:off x="8890000" y="2565400"/>
            <a:ext cx="22352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Native library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920B78-7C16-E1C0-84CE-4A66771CEE36}"/>
              </a:ext>
            </a:extLst>
          </p:cNvPr>
          <p:cNvSpPr txBox="1"/>
          <p:nvPr/>
        </p:nvSpPr>
        <p:spPr>
          <a:xfrm>
            <a:off x="8890000" y="3479800"/>
            <a:ext cx="2235200" cy="154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525A63"/>
                </a:solidFill>
                <a:latin typeface="Arial" panose="020B0604020202020204" pitchFamily="34" charset="0"/>
              </a:rPr>
              <a:t>Slower once · Faster every time · Coherent by design</a:t>
            </a:r>
            <a:endParaRPr lang="ko-KR" altLang="en-US" sz="12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087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F247FA-C4ED-7A98-505B-4845238AEC92}"/>
              </a:ext>
            </a:extLst>
          </p:cNvPr>
          <p:cNvSpPr txBox="1"/>
          <p:nvPr/>
        </p:nvSpPr>
        <p:spPr>
          <a:xfrm>
            <a:off x="736600" y="5588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Evidence should survive the meeting.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A9734-C3C7-A159-324B-C5856659ED26}"/>
              </a:ext>
            </a:extLst>
          </p:cNvPr>
          <p:cNvSpPr txBox="1"/>
          <p:nvPr/>
        </p:nvSpPr>
        <p:spPr>
          <a:xfrm>
            <a:off x="736600" y="1473200"/>
            <a:ext cx="9652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Each gate leaves a visible, auditable result—not a promise.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C835FB3-CE03-74DB-5641-DCBC54CB2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086224"/>
              </p:ext>
            </p:extLst>
          </p:nvPr>
        </p:nvGraphicFramePr>
        <p:xfrm>
          <a:off x="736600" y="2336800"/>
          <a:ext cx="10693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467">
                  <a:extLst>
                    <a:ext uri="{9D8B030D-6E8A-4147-A177-3AD203B41FA5}">
                      <a16:colId xmlns:a16="http://schemas.microsoft.com/office/drawing/2014/main" val="637273554"/>
                    </a:ext>
                  </a:extLst>
                </a:gridCol>
                <a:gridCol w="3564467">
                  <a:extLst>
                    <a:ext uri="{9D8B030D-6E8A-4147-A177-3AD203B41FA5}">
                      <a16:colId xmlns:a16="http://schemas.microsoft.com/office/drawing/2014/main" val="2223235915"/>
                    </a:ext>
                  </a:extLst>
                </a:gridCol>
                <a:gridCol w="3564467">
                  <a:extLst>
                    <a:ext uri="{9D8B030D-6E8A-4147-A177-3AD203B41FA5}">
                      <a16:colId xmlns:a16="http://schemas.microsoft.com/office/drawing/2014/main" val="86436834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Gate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Evidence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Result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19631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Structure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Native reopen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PASS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76232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Visual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Full render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PASS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093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Package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Open XML SDK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8322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FC9C17-6F94-1798-0B81-5324E4206D97}"/>
              </a:ext>
            </a:extLst>
          </p:cNvPr>
          <p:cNvSpPr txBox="1"/>
          <p:nvPr/>
        </p:nvSpPr>
        <p:spPr>
          <a:xfrm>
            <a:off x="8255000" y="5816600"/>
            <a:ext cx="3175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200" b="1">
                <a:solidFill>
                  <a:srgbClr val="C7422F"/>
                </a:solidFill>
                <a:latin typeface="Arial" panose="020B0604020202020204" pitchFamily="34" charset="0"/>
              </a:rPr>
              <a:t>STRUCTURE · VISUAL · PACKAGE</a:t>
            </a:r>
            <a:endParaRPr lang="ko-KR" altLang="en-US" sz="12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403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53745C-B1D5-4A5E-665E-51073BD56BAB}"/>
              </a:ext>
            </a:extLst>
          </p:cNvPr>
          <p:cNvSpPr txBox="1"/>
          <p:nvPr/>
        </p:nvSpPr>
        <p:spPr>
          <a:xfrm>
            <a:off x="736600" y="6096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HUMAN CONTEXT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54A71-FAA4-19BB-2646-F4E3348E95B2}"/>
              </a:ext>
            </a:extLst>
          </p:cNvPr>
          <p:cNvSpPr txBox="1"/>
          <p:nvPr/>
        </p:nvSpPr>
        <p:spPr>
          <a:xfrm>
            <a:off x="736600" y="1092200"/>
            <a:ext cx="4826000" cy="1422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2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Use the right image, not another rectangle.</a:t>
            </a:r>
            <a:endParaRPr lang="ko-KR" altLang="en-US" sz="32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5FF2D-7433-1984-2C44-37D94D4649B4}"/>
              </a:ext>
            </a:extLst>
          </p:cNvPr>
          <p:cNvSpPr txBox="1"/>
          <p:nvPr/>
        </p:nvSpPr>
        <p:spPr>
          <a:xfrm>
            <a:off x="736600" y="2946400"/>
            <a:ext cx="4521200" cy="2286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500">
                <a:solidFill>
                  <a:srgbClr val="525A63"/>
                </a:solidFill>
                <a:latin typeface="Arial" panose="020B0604020202020204" pitchFamily="34" charset="0"/>
              </a:rPr>
              <a:t>Approved imagery creates meaning, pace, and memory while remaining replaceable in native PowerPoint.</a:t>
            </a:r>
            <a:endParaRPr lang="ko-KR" altLang="en-US" sz="15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20CBF0-15A7-27EF-69AA-580ED7148F6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1168400"/>
            <a:ext cx="4445000" cy="444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77645D-2FE6-F4EF-4C52-ECA91EE1F5CB}"/>
              </a:ext>
            </a:extLst>
          </p:cNvPr>
          <p:cNvSpPr txBox="1"/>
          <p:nvPr/>
        </p:nvSpPr>
        <p:spPr>
          <a:xfrm>
            <a:off x="6375400" y="5791200"/>
            <a:ext cx="4445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ko-KR" sz="1100">
                <a:solidFill>
                  <a:srgbClr val="646B73"/>
                </a:solidFill>
                <a:latin typeface="Arial" panose="020B0604020202020204" pitchFamily="34" charset="0"/>
              </a:rPr>
              <a:t>The layout protects crop, hierarchy, and reading order.</a:t>
            </a:r>
            <a:endParaRPr lang="ko-KR" altLang="en-US" sz="11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012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68D29-240F-5D45-ECFF-8812ECC14C25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A repeatable operating model for every high-stakes deck.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7ECDC-7C3D-6F3E-4276-A3BCB822FBE8}"/>
              </a:ext>
            </a:extLst>
          </p:cNvPr>
          <p:cNvSpPr txBox="1"/>
          <p:nvPr/>
        </p:nvSpPr>
        <p:spPr>
          <a:xfrm>
            <a:off x="787400" y="22352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01  Frame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176DF-8C0B-7F7D-348A-5223FC532BF1}"/>
              </a:ext>
            </a:extLst>
          </p:cNvPr>
          <p:cNvSpPr txBox="1"/>
          <p:nvPr/>
        </p:nvSpPr>
        <p:spPr>
          <a:xfrm>
            <a:off x="787400" y="29718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Audience and decision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B93F88-7FE1-B52E-B46B-9CEFFDC9C0F9}"/>
              </a:ext>
            </a:extLst>
          </p:cNvPr>
          <p:cNvSpPr/>
          <p:nvPr/>
        </p:nvSpPr>
        <p:spPr>
          <a:xfrm>
            <a:off x="787400" y="4394200"/>
            <a:ext cx="2159000" cy="177800"/>
          </a:xfrm>
          <a:prstGeom prst="rect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FE0A3-9DD1-C5B0-5C76-2E0F5DB41EC6}"/>
              </a:ext>
            </a:extLst>
          </p:cNvPr>
          <p:cNvSpPr txBox="1"/>
          <p:nvPr/>
        </p:nvSpPr>
        <p:spPr>
          <a:xfrm>
            <a:off x="3429000" y="27178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02  Match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9206B-C42E-1F28-6EE4-65313D576E62}"/>
              </a:ext>
            </a:extLst>
          </p:cNvPr>
          <p:cNvSpPr txBox="1"/>
          <p:nvPr/>
        </p:nvSpPr>
        <p:spPr>
          <a:xfrm>
            <a:off x="3429000" y="34544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Archetype and density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780DE7-135A-17B8-825A-29902C4E2DCA}"/>
              </a:ext>
            </a:extLst>
          </p:cNvPr>
          <p:cNvSpPr/>
          <p:nvPr/>
        </p:nvSpPr>
        <p:spPr>
          <a:xfrm>
            <a:off x="3429000" y="4876800"/>
            <a:ext cx="2159000" cy="177800"/>
          </a:xfrm>
          <a:prstGeom prst="rect">
            <a:avLst/>
          </a:prstGeom>
          <a:solidFill>
            <a:srgbClr val="254E70"/>
          </a:solidFill>
          <a:ln>
            <a:solidFill>
              <a:srgbClr val="254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FDE2D-ADD2-3D67-6B10-A83E72CF0278}"/>
              </a:ext>
            </a:extLst>
          </p:cNvPr>
          <p:cNvSpPr txBox="1"/>
          <p:nvPr/>
        </p:nvSpPr>
        <p:spPr>
          <a:xfrm>
            <a:off x="6070600" y="32004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03  Build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9E46B-921F-5766-54B0-D76B5C02B1A9}"/>
              </a:ext>
            </a:extLst>
          </p:cNvPr>
          <p:cNvSpPr txBox="1"/>
          <p:nvPr/>
        </p:nvSpPr>
        <p:spPr>
          <a:xfrm>
            <a:off x="6070600" y="39370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Native content objects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28ECBA-1DEA-27E9-5745-46CDCD3040BE}"/>
              </a:ext>
            </a:extLst>
          </p:cNvPr>
          <p:cNvSpPr/>
          <p:nvPr/>
        </p:nvSpPr>
        <p:spPr>
          <a:xfrm>
            <a:off x="6070600" y="5359400"/>
            <a:ext cx="2159000" cy="177800"/>
          </a:xfrm>
          <a:prstGeom prst="rect">
            <a:avLst/>
          </a:prstGeom>
          <a:solidFill>
            <a:srgbClr val="6B7D6A"/>
          </a:solidFill>
          <a:ln>
            <a:solidFill>
              <a:srgbClr val="6B7D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DDE64F-3FE6-5156-57B7-F1BF660B3C83}"/>
              </a:ext>
            </a:extLst>
          </p:cNvPr>
          <p:cNvSpPr txBox="1"/>
          <p:nvPr/>
        </p:nvSpPr>
        <p:spPr>
          <a:xfrm>
            <a:off x="8712200" y="36830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04  Prove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D726ED-3EF2-A748-0604-62FBBC6BCC14}"/>
              </a:ext>
            </a:extLst>
          </p:cNvPr>
          <p:cNvSpPr txBox="1"/>
          <p:nvPr/>
        </p:nvSpPr>
        <p:spPr>
          <a:xfrm>
            <a:off x="8712200" y="44196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Render and critique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36D226-7DA1-B022-39D1-FF8B8DE032D4}"/>
              </a:ext>
            </a:extLst>
          </p:cNvPr>
          <p:cNvSpPr/>
          <p:nvPr/>
        </p:nvSpPr>
        <p:spPr>
          <a:xfrm>
            <a:off x="8712200" y="5842000"/>
            <a:ext cx="2159000" cy="1778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140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9BF9C1-0EE4-7910-4C6A-CF2CC56F62C4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From generic output to a designed argument.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4ECCC-7C0C-9FDE-2F88-1989C40A7703}"/>
              </a:ext>
            </a:extLst>
          </p:cNvPr>
          <p:cNvSpPr txBox="1"/>
          <p:nvPr/>
        </p:nvSpPr>
        <p:spPr>
          <a:xfrm>
            <a:off x="736600" y="2209800"/>
            <a:ext cx="38100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400" b="1">
                <a:solidFill>
                  <a:srgbClr val="646B73"/>
                </a:solidFill>
                <a:latin typeface="Georgia" panose="02040502050405020303" pitchFamily="18" charset="0"/>
                <a:ea typeface="Batang"/>
              </a:rPr>
              <a:t>Generic</a:t>
            </a:r>
            <a:endParaRPr lang="ko-KR" altLang="en-US" sz="2400" b="1">
              <a:solidFill>
                <a:srgbClr val="646B73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442FE-16AA-B5CA-2E09-5EE6898D11A1}"/>
              </a:ext>
            </a:extLst>
          </p:cNvPr>
          <p:cNvSpPr txBox="1"/>
          <p:nvPr/>
        </p:nvSpPr>
        <p:spPr>
          <a:xfrm>
            <a:off x="736600" y="3175000"/>
            <a:ext cx="3810000" cy="1905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46B73"/>
                </a:solidFill>
                <a:latin typeface="Arial" panose="020B0604020202020204" pitchFamily="34" charset="0"/>
              </a:rPr>
              <a:t>Same grid · Same cards · Same visual rhythm</a:t>
            </a:r>
            <a:endParaRPr lang="ko-KR" altLang="en-US" sz="14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9094A895-52E4-F175-D691-78EE791ED5EC}"/>
              </a:ext>
            </a:extLst>
          </p:cNvPr>
          <p:cNvSpPr/>
          <p:nvPr/>
        </p:nvSpPr>
        <p:spPr>
          <a:xfrm>
            <a:off x="5283200" y="3200400"/>
            <a:ext cx="1168400" cy="558800"/>
          </a:xfrm>
          <a:prstGeom prst="rightArrow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46571-FDFA-BE6B-BA80-7437C47EF091}"/>
              </a:ext>
            </a:extLst>
          </p:cNvPr>
          <p:cNvSpPr txBox="1"/>
          <p:nvPr/>
        </p:nvSpPr>
        <p:spPr>
          <a:xfrm>
            <a:off x="7188200" y="1955800"/>
            <a:ext cx="4191000" cy="736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8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Directed</a:t>
            </a:r>
            <a:endParaRPr lang="ko-KR" altLang="en-US" sz="28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DDD1B-BD02-15E3-1932-0AA7B6C313C1}"/>
              </a:ext>
            </a:extLst>
          </p:cNvPr>
          <p:cNvSpPr txBox="1"/>
          <p:nvPr/>
        </p:nvSpPr>
        <p:spPr>
          <a:xfrm>
            <a:off x="7188200" y="3022600"/>
            <a:ext cx="4191000" cy="2209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500">
                <a:solidFill>
                  <a:srgbClr val="3D444C"/>
                </a:solidFill>
                <a:latin typeface="Arial" panose="020B0604020202020204" pitchFamily="34" charset="0"/>
              </a:rPr>
              <a:t>Distinct scenes · Evidence-led hierarchy · One visual thesis</a:t>
            </a:r>
            <a:endParaRPr lang="ko-KR" altLang="en-US" sz="1500">
              <a:solidFill>
                <a:srgbClr val="3D444C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73CB9-19BD-7FAA-D16C-4205D5C41AB5}"/>
              </a:ext>
            </a:extLst>
          </p:cNvPr>
          <p:cNvSpPr txBox="1"/>
          <p:nvPr/>
        </p:nvSpPr>
        <p:spPr>
          <a:xfrm>
            <a:off x="7188200" y="5511800"/>
            <a:ext cx="4191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C7422F"/>
                </a:solidFill>
                <a:latin typeface="Arial" panose="020B0604020202020204" pitchFamily="34" charset="0"/>
              </a:rPr>
              <a:t>SHIFT</a:t>
            </a:r>
            <a:endParaRPr lang="ko-KR" altLang="en-US" sz="12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583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E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751411-E709-DF46-D51F-426C19205690}"/>
              </a:ext>
            </a:extLst>
          </p:cNvPr>
          <p:cNvSpPr txBox="1"/>
          <p:nvPr/>
        </p:nvSpPr>
        <p:spPr>
          <a:xfrm>
            <a:off x="736600" y="1092200"/>
            <a:ext cx="1143000" cy="127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7800" b="1">
                <a:solidFill>
                  <a:srgbClr val="EA7A60"/>
                </a:solidFill>
                <a:latin typeface="Georgia" panose="02040502050405020303" pitchFamily="18" charset="0"/>
                <a:ea typeface="Batang"/>
              </a:rPr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5621D-1DE1-A029-6EBF-5D58EAED4881}"/>
              </a:ext>
            </a:extLst>
          </p:cNvPr>
          <p:cNvSpPr txBox="1"/>
          <p:nvPr/>
        </p:nvSpPr>
        <p:spPr>
          <a:xfrm>
            <a:off x="1701800" y="1625600"/>
            <a:ext cx="8636000" cy="215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FFFFFF"/>
                </a:solidFill>
                <a:latin typeface="Georgia" panose="02040502050405020303" pitchFamily="18" charset="0"/>
                <a:ea typeface="Batang"/>
              </a:rPr>
              <a:t>Design is not decoration. It is decision infrastructure.</a:t>
            </a:r>
            <a:endParaRPr lang="ko-KR" altLang="en-US" sz="3800" b="1">
              <a:solidFill>
                <a:srgbClr val="FFFFF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3827E-F171-5F9B-50C0-A16CA376A19A}"/>
              </a:ext>
            </a:extLst>
          </p:cNvPr>
          <p:cNvSpPr txBox="1"/>
          <p:nvPr/>
        </p:nvSpPr>
        <p:spPr>
          <a:xfrm>
            <a:off x="1752600" y="4368800"/>
            <a:ext cx="7620000" cy="711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500">
                <a:solidFill>
                  <a:srgbClr val="DDE5EA"/>
                </a:solidFill>
                <a:latin typeface="Arial" panose="020B0604020202020204" pitchFamily="34" charset="0"/>
              </a:rPr>
              <a:t>The strongest slide makes the next action feel inevitable.</a:t>
            </a:r>
            <a:endParaRPr lang="ko-KR" altLang="en-US" sz="1500">
              <a:solidFill>
                <a:srgbClr val="DDE5EA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1CBC7-5C54-A7AC-AF62-BDF55C376ADF}"/>
              </a:ext>
            </a:extLst>
          </p:cNvPr>
          <p:cNvSpPr txBox="1"/>
          <p:nvPr/>
        </p:nvSpPr>
        <p:spPr>
          <a:xfrm>
            <a:off x="1752600" y="5486400"/>
            <a:ext cx="5080000" cy="330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Arial" panose="020B0604020202020204" pitchFamily="34" charset="0"/>
              </a:rPr>
              <a:t>MIXDOG OFFICE USE</a:t>
            </a:r>
            <a:endParaRPr lang="ko-KR" altLang="en-US" sz="1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823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87718-38A7-21E4-56C8-3215A60176C9}"/>
              </a:ext>
            </a:extLst>
          </p:cNvPr>
          <p:cNvSpPr txBox="1"/>
          <p:nvPr/>
        </p:nvSpPr>
        <p:spPr>
          <a:xfrm>
            <a:off x="736600" y="5334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THE THESIS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92147-9353-6769-5226-70172B00E00F}"/>
              </a:ext>
            </a:extLst>
          </p:cNvPr>
          <p:cNvSpPr txBox="1"/>
          <p:nvPr/>
        </p:nvSpPr>
        <p:spPr>
          <a:xfrm>
            <a:off x="736600" y="965200"/>
            <a:ext cx="10414000" cy="914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2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Native templates create leverage only when selection is semantic.</a:t>
            </a:r>
            <a:endParaRPr lang="ko-KR" altLang="en-US" sz="32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99BEE-455A-FEE9-589A-901EA3700E71}"/>
              </a:ext>
            </a:extLst>
          </p:cNvPr>
          <p:cNvSpPr txBox="1"/>
          <p:nvPr/>
        </p:nvSpPr>
        <p:spPr>
          <a:xfrm>
            <a:off x="736600" y="2336800"/>
            <a:ext cx="6629400" cy="314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3D444C"/>
                </a:solidFill>
                <a:latin typeface="Arial" panose="020B0604020202020204" pitchFamily="34" charset="0"/>
              </a:rPr>
              <a:t>Layout variety matters. Matching the right structure to the message matters more.</a:t>
            </a:r>
            <a:endParaRPr lang="ko-KR" altLang="en-US" sz="1400">
              <a:solidFill>
                <a:srgbClr val="3D444C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6EFAD5-A3DC-2B51-1144-C96BA6C04DED}"/>
              </a:ext>
            </a:extLst>
          </p:cNvPr>
          <p:cNvSpPr/>
          <p:nvPr/>
        </p:nvSpPr>
        <p:spPr>
          <a:xfrm>
            <a:off x="8204200" y="2209800"/>
            <a:ext cx="3175000" cy="3251200"/>
          </a:xfrm>
          <a:prstGeom prst="rect">
            <a:avLst/>
          </a:prstGeom>
          <a:solidFill>
            <a:srgbClr val="E9EDF0"/>
          </a:solidFill>
          <a:ln>
            <a:solidFill>
              <a:srgbClr val="E9ED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5148B-34D5-4600-890D-10C12E2A684D}"/>
              </a:ext>
            </a:extLst>
          </p:cNvPr>
          <p:cNvSpPr txBox="1"/>
          <p:nvPr/>
        </p:nvSpPr>
        <p:spPr>
          <a:xfrm>
            <a:off x="8610600" y="2921000"/>
            <a:ext cx="2362200" cy="152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800" b="1">
                <a:solidFill>
                  <a:srgbClr val="254E70"/>
                </a:solidFill>
                <a:latin typeface="Georgia" panose="02040502050405020303" pitchFamily="18" charset="0"/>
                <a:ea typeface="Batang"/>
              </a:rPr>
              <a:t>FORM FOLLOWS FUNCTION</a:t>
            </a:r>
            <a:endParaRPr lang="ko-KR" altLang="en-US" sz="2800" b="1">
              <a:solidFill>
                <a:srgbClr val="254E70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6371A-227E-778F-0209-13190BE8E831}"/>
              </a:ext>
            </a:extLst>
          </p:cNvPr>
          <p:cNvSpPr txBox="1"/>
          <p:nvPr/>
        </p:nvSpPr>
        <p:spPr>
          <a:xfrm>
            <a:off x="736600" y="5969000"/>
            <a:ext cx="9144000" cy="27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6B7280"/>
                </a:solidFill>
                <a:latin typeface="Arial" panose="020B0604020202020204" pitchFamily="34" charset="0"/>
              </a:rPr>
              <a:t>Template-first · Content-aware · Review-gated</a:t>
            </a:r>
            <a:endParaRPr lang="ko-KR" altLang="en-US" sz="900">
              <a:solidFill>
                <a:srgbClr val="6B728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803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B9046-0626-EDB1-3AD4-5FC412D85CA4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Measured improvement, visible in one glance.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58BCA-9D4F-6786-411D-12714F60CB35}"/>
              </a:ext>
            </a:extLst>
          </p:cNvPr>
          <p:cNvSpPr txBox="1"/>
          <p:nvPr/>
        </p:nvSpPr>
        <p:spPr>
          <a:xfrm>
            <a:off x="9245600" y="2489200"/>
            <a:ext cx="2159000" cy="1016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4400" b="1">
                <a:solidFill>
                  <a:srgbClr val="C7422F"/>
                </a:solidFill>
                <a:latin typeface="Georgia" panose="02040502050405020303" pitchFamily="18" charset="0"/>
                <a:ea typeface="Batang"/>
              </a:rPr>
              <a:t>−25%</a:t>
            </a:r>
            <a:endParaRPr lang="ko-KR" altLang="en-US" sz="4400" b="1">
              <a:solidFill>
                <a:srgbClr val="C7422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0B269-D2AA-3909-92F6-32FE0D9D3D83}"/>
              </a:ext>
            </a:extLst>
          </p:cNvPr>
          <p:cNvSpPr txBox="1"/>
          <p:nvPr/>
        </p:nvSpPr>
        <p:spPr>
          <a:xfrm>
            <a:off x="9245600" y="3632200"/>
            <a:ext cx="2159000" cy="457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API TIME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3EB50-2C4A-B538-CB7C-147ECA8CA476}"/>
              </a:ext>
            </a:extLst>
          </p:cNvPr>
          <p:cNvSpPr txBox="1"/>
          <p:nvPr/>
        </p:nvSpPr>
        <p:spPr>
          <a:xfrm>
            <a:off x="8966200" y="4343400"/>
            <a:ext cx="2438400" cy="1066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25.57s → 19.04s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0E72F4BF-60B7-D4B5-8CF6-26E33B2DE1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461333"/>
              </p:ext>
            </p:extLst>
          </p:nvPr>
        </p:nvGraphicFramePr>
        <p:xfrm>
          <a:off x="736600" y="2108200"/>
          <a:ext cx="7747000" cy="375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2493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940A8D-2797-3007-4A89-C1A12B5E04A7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REVIEW GATES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807A9-EF31-BEAC-5BBB-FACFD4373971}"/>
              </a:ext>
            </a:extLst>
          </p:cNvPr>
          <p:cNvSpPr txBox="1"/>
          <p:nvPr/>
        </p:nvSpPr>
        <p:spPr>
          <a:xfrm>
            <a:off x="736600" y="1041400"/>
            <a:ext cx="10414000" cy="914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Every deliverable passes three independent proofs.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C5EBA-856C-1DE8-F37C-26F34C455506}"/>
              </a:ext>
            </a:extLst>
          </p:cNvPr>
          <p:cNvSpPr txBox="1"/>
          <p:nvPr/>
        </p:nvSpPr>
        <p:spPr>
          <a:xfrm>
            <a:off x="736600" y="2590800"/>
            <a:ext cx="2921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71A1F"/>
                </a:solidFill>
                <a:latin typeface="Georgia" panose="02040502050405020303" pitchFamily="18" charset="0"/>
                <a:ea typeface="Batang"/>
              </a:rPr>
              <a:t>Structure</a:t>
            </a:r>
            <a:endParaRPr lang="ko-KR" altLang="en-US" sz="2000" b="1">
              <a:solidFill>
                <a:srgbClr val="171A1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353DE-5D61-A357-EF63-C7C0E9DE86B4}"/>
              </a:ext>
            </a:extLst>
          </p:cNvPr>
          <p:cNvSpPr txBox="1"/>
          <p:nvPr/>
        </p:nvSpPr>
        <p:spPr>
          <a:xfrm>
            <a:off x="736600" y="3429000"/>
            <a:ext cx="2921000" cy="1117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Native reopen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BF247C-88B5-2331-EAA4-358D329FC166}"/>
              </a:ext>
            </a:extLst>
          </p:cNvPr>
          <p:cNvSpPr txBox="1"/>
          <p:nvPr/>
        </p:nvSpPr>
        <p:spPr>
          <a:xfrm>
            <a:off x="4495800" y="3124200"/>
            <a:ext cx="2921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254E70"/>
                </a:solidFill>
                <a:latin typeface="Georgia" panose="02040502050405020303" pitchFamily="18" charset="0"/>
                <a:ea typeface="Batang"/>
              </a:rPr>
              <a:t>Visual</a:t>
            </a:r>
            <a:endParaRPr lang="ko-KR" altLang="en-US" sz="2000" b="1">
              <a:solidFill>
                <a:srgbClr val="254E70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BB258-AFC7-15CC-CC28-997015C3F0C5}"/>
              </a:ext>
            </a:extLst>
          </p:cNvPr>
          <p:cNvSpPr txBox="1"/>
          <p:nvPr/>
        </p:nvSpPr>
        <p:spPr>
          <a:xfrm>
            <a:off x="4495800" y="3962400"/>
            <a:ext cx="2921000" cy="1117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Full-slide render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94FBA-FCAB-3D60-AEF8-895732DF467A}"/>
              </a:ext>
            </a:extLst>
          </p:cNvPr>
          <p:cNvSpPr txBox="1"/>
          <p:nvPr/>
        </p:nvSpPr>
        <p:spPr>
          <a:xfrm>
            <a:off x="8255000" y="3657600"/>
            <a:ext cx="2921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C7422F"/>
                </a:solidFill>
                <a:latin typeface="Georgia" panose="02040502050405020303" pitchFamily="18" charset="0"/>
                <a:ea typeface="Batang"/>
              </a:rPr>
              <a:t>Package</a:t>
            </a:r>
            <a:endParaRPr lang="ko-KR" altLang="en-US" sz="2000" b="1">
              <a:solidFill>
                <a:srgbClr val="C7422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D43B1-8D1A-AFFA-60FB-0FCD196465B1}"/>
              </a:ext>
            </a:extLst>
          </p:cNvPr>
          <p:cNvSpPr txBox="1"/>
          <p:nvPr/>
        </p:nvSpPr>
        <p:spPr>
          <a:xfrm>
            <a:off x="8255000" y="4495800"/>
            <a:ext cx="2921000" cy="1117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Open XML validation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996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4B455A-5CBF-C36E-787E-3E1704419809}"/>
              </a:ext>
            </a:extLst>
          </p:cNvPr>
          <p:cNvSpPr txBox="1"/>
          <p:nvPr/>
        </p:nvSpPr>
        <p:spPr>
          <a:xfrm>
            <a:off x="736600" y="787400"/>
            <a:ext cx="5334000" cy="27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DC5F46"/>
                </a:solidFill>
                <a:latin typeface="Arial" panose="020B0604020202020204" pitchFamily="34" charset="0"/>
              </a:rPr>
              <a:t>NEXT</a:t>
            </a:r>
            <a:endParaRPr lang="ko-KR" altLang="en-US" sz="1000" b="1">
              <a:solidFill>
                <a:srgbClr val="DC5F46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C0E39-72CA-08A6-F028-BC925411183F}"/>
              </a:ext>
            </a:extLst>
          </p:cNvPr>
          <p:cNvSpPr txBox="1"/>
          <p:nvPr/>
        </p:nvSpPr>
        <p:spPr>
          <a:xfrm>
            <a:off x="736600" y="1854200"/>
            <a:ext cx="8890000" cy="1955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200" b="1">
                <a:solidFill>
                  <a:srgbClr val="FFFFFF"/>
                </a:solidFill>
                <a:latin typeface="Georgia" panose="02040502050405020303" pitchFamily="18" charset="0"/>
                <a:ea typeface="Batang"/>
              </a:rPr>
              <a:t>Build once. Present with confidence.</a:t>
            </a:r>
            <a:endParaRPr lang="ko-KR" altLang="en-US" sz="4200" b="1">
              <a:solidFill>
                <a:srgbClr val="FFFFF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C8AAC-D616-4899-E715-A222B68B1B13}"/>
              </a:ext>
            </a:extLst>
          </p:cNvPr>
          <p:cNvSpPr txBox="1"/>
          <p:nvPr/>
        </p:nvSpPr>
        <p:spPr>
          <a:xfrm>
            <a:off x="787400" y="4292600"/>
            <a:ext cx="8255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C7CBD1"/>
                </a:solidFill>
                <a:latin typeface="Arial" panose="020B0604020202020204" pitchFamily="34" charset="0"/>
              </a:rPr>
              <a:t>A native design system that gets stronger with every approved slide.</a:t>
            </a:r>
            <a:endParaRPr lang="ko-KR" altLang="en-US" sz="16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2114B3-45C5-621A-7E70-0EF7A8B4B00A}"/>
              </a:ext>
            </a:extLst>
          </p:cNvPr>
          <p:cNvSpPr/>
          <p:nvPr/>
        </p:nvSpPr>
        <p:spPr>
          <a:xfrm>
            <a:off x="10007600" y="1828800"/>
            <a:ext cx="1422400" cy="3200400"/>
          </a:xfrm>
          <a:prstGeom prst="rect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7AD67-7D27-7318-132B-78BEC7BB34BB}"/>
              </a:ext>
            </a:extLst>
          </p:cNvPr>
          <p:cNvSpPr txBox="1"/>
          <p:nvPr/>
        </p:nvSpPr>
        <p:spPr>
          <a:xfrm>
            <a:off x="10236200" y="2362200"/>
            <a:ext cx="965200" cy="2006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ko-KR" sz="2500" b="1">
                <a:solidFill>
                  <a:srgbClr val="FFFFFF"/>
                </a:solidFill>
                <a:latin typeface="Georgia" panose="02040502050405020303" pitchFamily="18" charset="0"/>
                <a:ea typeface="Batang"/>
              </a:rPr>
              <a:t>MIXDOG</a:t>
            </a:r>
            <a:endParaRPr lang="ko-KR" altLang="en-US" sz="2500" b="1">
              <a:solidFill>
                <a:srgbClr val="FFFFFF"/>
              </a:solidFill>
              <a:latin typeface="Georgia" panose="02040502050405020303" pitchFamily="18" charset="0"/>
              <a:ea typeface="Batang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97F2B-B453-DD4C-081F-40ABA5A6D3F4}"/>
              </a:ext>
            </a:extLst>
          </p:cNvPr>
          <p:cNvSpPr txBox="1"/>
          <p:nvPr/>
        </p:nvSpPr>
        <p:spPr>
          <a:xfrm>
            <a:off x="787400" y="6070600"/>
            <a:ext cx="7620000" cy="27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>
                <a:solidFill>
                  <a:srgbClr val="8F969E"/>
                </a:solidFill>
                <a:latin typeface="Arial" panose="020B0604020202020204" pitchFamily="34" charset="0"/>
              </a:rPr>
              <a:t>Office Use · Template-first authoring</a:t>
            </a:r>
            <a:endParaRPr lang="ko-KR" altLang="en-US" sz="1000">
              <a:solidFill>
                <a:srgbClr val="8F96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288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dog TextBox 2"/>
          <p:cNvSpPr txBox="1"/>
          <p:nvPr/>
        </p:nvSpPr>
        <p:spPr>
          <a:xfrm>
            <a:off x="736600" y="660400"/>
            <a:ext cx="1069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1F"/>
                </a:solidFill>
                <a:latin typeface="Georgia"/>
                <a:ea typeface="Batang"/>
                <a:cs typeface="Georgia"/>
              </a:rPr>
              <a:t>Comparison at a glance</a:t>
            </a:r>
          </a:p>
        </p:txBody>
      </p:sp>
      <p:sp>
        <p:nvSpPr>
          <p:cNvPr id="3" name="Mixdog TextBox 3"/>
          <p:cNvSpPr txBox="1"/>
          <p:nvPr/>
        </p:nvSpPr>
        <p:spPr>
          <a:xfrm>
            <a:off x="736600" y="1473200"/>
            <a:ext cx="10693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Baseline versus target across the tracked dimensions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36600" y="2133600"/>
          <a:ext cx="10693400" cy="3708400"/>
        </p:xfrm>
        <a:graphic>
          <a:graphicData uri="http://schemas.openxmlformats.org/drawingml/2006/table">
            <a:tbl>
              <a:tblPr firstRow="1" bandRow="1"/>
              <a:tblGrid>
                <a:gridCol w="3564467"/>
                <a:gridCol w="3564467"/>
                <a:gridCol w="3564467"/>
              </a:tblGrid>
              <a:tr h="5842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171A1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anchor="ctr">
                    <a:solidFill>
                      <a:srgbClr val="171A1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anchor="ctr">
                    <a:solidFill>
                      <a:srgbClr val="171A1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820ms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400ms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Cost per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$1.20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$0.75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Adoption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사설적">
  <a:themeElements>
    <a:clrScheme name="사설적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0</TotalTime>
  <Words>884</Words>
  <Application>Microsoft Office PowerPoint</Application>
  <PresentationFormat>와이드스크린</PresentationFormat>
  <Paragraphs>160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맑은 고딕</vt:lpstr>
      <vt:lpstr>Aptos</vt:lpstr>
      <vt:lpstr>Arial</vt:lpstr>
      <vt:lpstr>Georgia</vt:lpstr>
      <vt:lpstr>Haettenschweiler</vt:lpstr>
      <vt:lpstr>Trade Gothic Next Light</vt:lpstr>
      <vt:lpstr>사설적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재영 박</dc:creator>
  <cp:lastModifiedBy>재영 박</cp:lastModifiedBy>
  <cp:revision>6</cp:revision>
  <dcterms:created xsi:type="dcterms:W3CDTF">2026-08-28T15:13:24Z</dcterms:created>
  <dcterms:modified xsi:type="dcterms:W3CDTF">2026-08-28T15:14:39Z</dcterms:modified>
</cp:coreProperties>
</file>